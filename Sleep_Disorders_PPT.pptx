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charts/chart5.xml" ContentType="application/vnd.openxmlformats-officedocument.drawingml.chart+xml"/>
  <Override PartName="/ppt/notesSlides/notesSlide1.xml" ContentType="application/vnd.openxmlformats-officedocument.presentationml.notesSlide+xml"/>
  <Override PartName="/ppt/charts/chart6.xml" ContentType="application/vnd.openxmlformats-officedocument.drawingml.chart+xml"/>
  <Override PartName="/ppt/charts/chart7.xml" ContentType="application/vnd.openxmlformats-officedocument.drawingml.chart+xml"/>
  <Override PartName="/ppt/charts/chart8.xml" ContentType="application/vnd.openxmlformats-officedocument.drawingml.chart+xml"/>
  <Override PartName="/ppt/charts/chart9.xml" ContentType="application/vnd.openxmlformats-officedocument.drawingml.chart+xml"/>
  <Override PartName="/ppt/charts/chart10.xml" ContentType="application/vnd.openxmlformats-officedocument.drawingml.chart+xml"/>
  <Override PartName="/ppt/charts/chart11.xml" ContentType="application/vnd.openxmlformats-officedocument.drawingml.char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3"/>
  </p:notesMasterIdLst>
  <p:sldIdLst>
    <p:sldId id="256" r:id="rId2"/>
    <p:sldId id="300" r:id="rId3"/>
    <p:sldId id="258" r:id="rId4"/>
    <p:sldId id="302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6" r:id="rId19"/>
    <p:sldId id="273" r:id="rId20"/>
    <p:sldId id="274" r:id="rId21"/>
    <p:sldId id="275" r:id="rId22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78" d="100"/>
          <a:sy n="78" d="100"/>
        </p:scale>
        <p:origin x="850" y="547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ableStyles" Target="tableStyles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3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4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5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_rels/chart6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5.xlsx"/></Relationships>
</file>

<file path=ppt/charts/_rels/chart7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6.xlsx"/></Relationships>
</file>

<file path=ppt/charts/_rels/chart8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7.xlsx"/></Relationships>
</file>

<file path=ppt/charts/_rels/chart9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8.xlsx"/></Relationships>
</file>

<file path=ppt/charts/_rels/chart10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9.xlsx"/></Relationships>
</file>

<file path=ppt/charts/_rels/chart1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0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pPr>
              <a:defRPr sz="1600" b="1"/>
            </a:pPr>
            <a:r>
              <a:rPr lang="en-US" sz="1600" b="1">
                <a:solidFill>
                  <a:srgbClr val="1E293B"/>
                </a:solidFill>
              </a:rPr>
              <a:t>59 Disorder Records: Insomnia vs Sleep Apnea</a:t>
            </a:r>
          </a:p>
        </c:rich>
      </c:tx>
      <c:overlay val="0"/>
    </c:title>
    <c:autoTitleDeleted val="0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Count</c:v>
                </c:pt>
              </c:strCache>
            </c:strRef>
          </c:tx>
          <c:dPt>
            <c:idx val="0"/>
            <c:bubble3D val="0"/>
            <c:spPr>
              <a:solidFill>
                <a:srgbClr val="D9714A"/>
              </a:solidFill>
            </c:spPr>
            <c:extLst>
              <c:ext xmlns:c16="http://schemas.microsoft.com/office/drawing/2014/chart" uri="{C3380CC4-5D6E-409C-BE32-E72D297353CC}">
                <c16:uniqueId val="{00000001-90FF-4359-8FA6-3B518D25C1FF}"/>
              </c:ext>
            </c:extLst>
          </c:dPt>
          <c:dPt>
            <c:idx val="1"/>
            <c:bubble3D val="0"/>
            <c:spPr>
              <a:solidFill>
                <a:srgbClr val="2E86AB"/>
              </a:solidFill>
            </c:spPr>
            <c:extLst>
              <c:ext xmlns:c16="http://schemas.microsoft.com/office/drawing/2014/chart" uri="{C3380CC4-5D6E-409C-BE32-E72D297353CC}">
                <c16:uniqueId val="{00000003-90FF-4359-8FA6-3B518D25C1FF}"/>
              </c:ext>
            </c:extLst>
          </c:dPt>
          <c:dLbls>
            <c:numFmt formatCode="General" sourceLinked="0"/>
            <c:spPr>
              <a:noFill/>
              <a:ln>
                <a:noFill/>
              </a:ln>
            </c:spPr>
            <c:txPr>
              <a:bodyPr/>
              <a:lstStyle/>
              <a:p>
                <a:pPr>
                  <a:defRPr sz="2000" b="1">
                    <a:solidFill>
                      <a:srgbClr val="FFFFFF"/>
                    </a:solidFill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1"/>
            <c:extLst>
              <c:ext xmlns:c15="http://schemas.microsoft.com/office/drawing/2012/chart" uri="{CE6537A1-D6FC-4f65-9D91-7224C49458BB}"/>
            </c:extLst>
          </c:dLbls>
          <c:cat>
            <c:strRef>
              <c:f>Sheet1!$A$2:$A$3</c:f>
              <c:strCache>
                <c:ptCount val="2"/>
                <c:pt idx="0">
                  <c:v>Insomnia</c:v>
                </c:pt>
                <c:pt idx="1">
                  <c:v>Sleep Apnea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29</c:v>
                </c:pt>
                <c:pt idx="1">
                  <c:v>30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90FF-4359-8FA6-3B518D25C1FF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0"/>
        <c:holeSize val="50"/>
      </c:doughnutChart>
    </c:plotArea>
    <c:legend>
      <c:legendPos val="b"/>
      <c:overlay val="0"/>
    </c:legend>
    <c:plotVisOnly val="1"/>
    <c:dispBlanksAs val="gap"/>
    <c:showDLblsOverMax val="0"/>
  </c:chart>
  <c:spPr>
    <a:solidFill>
      <a:srgbClr val="FFFFFF"/>
    </a:solidFill>
    <a:ln w="12700">
      <a:solidFill>
        <a:srgbClr val="DDD6EE"/>
      </a:solidFill>
    </a:ln>
  </c:spPr>
  <c:txPr>
    <a:bodyPr/>
    <a:lstStyle/>
    <a:p>
      <a:pPr>
        <a:defRPr sz="1200"/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pPr>
              <a:defRPr sz="1500" b="1"/>
            </a:pPr>
            <a:r>
              <a:rPr lang="en-US" sz="1500" b="1">
                <a:solidFill>
                  <a:srgbClr val="1E293B"/>
                </a:solidFill>
              </a:rPr>
              <a:t>Average Sleep Duration &amp; Quality by Disorder</a:t>
            </a:r>
          </a:p>
        </c:rich>
      </c:tx>
      <c:overlay val="0"/>
    </c:title>
    <c:autoTitleDeleted val="0"/>
    <c:plotArea>
      <c:layout/>
      <c:barChart>
        <c:barDir val="col"/>
        <c:grouping val="clustered"/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Sleep Duration (hrs)</c:v>
                </c:pt>
              </c:strCache>
            </c:strRef>
          </c:tx>
          <c:spPr>
            <a:solidFill>
              <a:srgbClr val="D9714A"/>
            </a:solidFill>
            <a:ln>
              <a:solidFill>
                <a:srgbClr val="D9714A"/>
              </a:solidFill>
            </a:ln>
          </c:spPr>
          <c:invertIfNegative val="1"/>
          <c:dLbls>
            <c:numFmt formatCode="0.00" sourceLinked="0"/>
            <c:spPr>
              <a:noFill/>
              <a:ln>
                <a:noFill/>
              </a:ln>
            </c:spPr>
            <c:txPr>
              <a:bodyPr/>
              <a:lstStyle/>
              <a:p>
                <a:pPr>
                  <a:defRPr sz="1400" b="1">
                    <a:solidFill>
                      <a:srgbClr val="1E293B"/>
                    </a:solidFill>
                  </a:defRPr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Sheet1!$A$2:$A$3</c:f>
              <c:strCache>
                <c:ptCount val="2"/>
                <c:pt idx="0">
                  <c:v>Insomnia</c:v>
                </c:pt>
                <c:pt idx="1">
                  <c:v>Sleep Apnea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6.68</c:v>
                </c:pt>
                <c:pt idx="1">
                  <c:v>6.94</c:v>
                </c:pt>
              </c:numCache>
            </c:numRef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  <a:ln>
                    <a:solidFill>
                      <a:srgbClr val="D9714A"/>
                    </a:solidFill>
                  </a:ln>
                </c14:spPr>
              </c14:invertSolidFillFmt>
            </c:ext>
            <c:ext xmlns:c16="http://schemas.microsoft.com/office/drawing/2014/chart" uri="{C3380CC4-5D6E-409C-BE32-E72D297353CC}">
              <c16:uniqueId val="{00000000-0D31-41E6-8C6D-7A22A9D2BF9B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Quality of Sleep</c:v>
                </c:pt>
              </c:strCache>
            </c:strRef>
          </c:tx>
          <c:spPr>
            <a:solidFill>
              <a:srgbClr val="2E86AB"/>
            </a:solidFill>
            <a:ln>
              <a:solidFill>
                <a:srgbClr val="2E86AB"/>
              </a:solidFill>
            </a:ln>
          </c:spPr>
          <c:invertIfNegative val="1"/>
          <c:dLbls>
            <c:numFmt formatCode="0.00" sourceLinked="0"/>
            <c:spPr>
              <a:noFill/>
              <a:ln>
                <a:noFill/>
              </a:ln>
            </c:spPr>
            <c:txPr>
              <a:bodyPr/>
              <a:lstStyle/>
              <a:p>
                <a:pPr>
                  <a:defRPr sz="1400" b="1">
                    <a:solidFill>
                      <a:srgbClr val="1E293B"/>
                    </a:solidFill>
                  </a:defRPr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Sheet1!$A$2:$A$3</c:f>
              <c:strCache>
                <c:ptCount val="2"/>
                <c:pt idx="0">
                  <c:v>Insomnia</c:v>
                </c:pt>
                <c:pt idx="1">
                  <c:v>Sleep Apnea</c:v>
                </c:pt>
              </c:strCache>
            </c:strRef>
          </c:cat>
          <c:val>
            <c:numRef>
              <c:f>Sheet1!$C$2:$C$3</c:f>
              <c:numCache>
                <c:formatCode>General</c:formatCode>
                <c:ptCount val="2"/>
                <c:pt idx="0">
                  <c:v>6.52</c:v>
                </c:pt>
                <c:pt idx="1">
                  <c:v>6.87</c:v>
                </c:pt>
              </c:numCache>
            </c:numRef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  <a:ln>
                    <a:solidFill>
                      <a:srgbClr val="2E86AB"/>
                    </a:solidFill>
                  </a:ln>
                </c14:spPr>
              </c14:invertSolidFillFmt>
            </c:ext>
            <c:ext xmlns:c16="http://schemas.microsoft.com/office/drawing/2014/chart" uri="{C3380CC4-5D6E-409C-BE32-E72D297353CC}">
              <c16:uniqueId val="{00000001-0D31-41E6-8C6D-7A22A9D2BF9B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6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numFmt formatCode="General" sourceLinked="0"/>
        <c:majorTickMark val="out"/>
        <c:minorTickMark val="none"/>
        <c:tickLblPos val="nextTo"/>
        <c:txPr>
          <a:bodyPr/>
          <a:lstStyle/>
          <a:p>
            <a:pPr>
              <a:defRPr sz="1100"/>
            </a:pPr>
            <a:endParaRPr lang="en-US"/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orientation val="minMax"/>
          <c:max val="10"/>
          <c:min val="0"/>
        </c:scaling>
        <c:delete val="0"/>
        <c:axPos val="l"/>
        <c:majorGridlines>
          <c:spPr>
            <a:ln w="6350">
              <a:solidFill>
                <a:srgbClr val="D9D4E6"/>
              </a:solidFill>
              <a:prstDash val="dash"/>
            </a:ln>
          </c:spPr>
        </c:majorGridlines>
        <c:title>
          <c:tx>
            <c:rich>
              <a:bodyPr rot="-5400000" vert="horz"/>
              <a:lstStyle/>
              <a:p>
                <a:pPr>
                  <a:defRPr sz="1100" b="1"/>
                </a:pPr>
                <a:r>
                  <a:rPr lang="en-US" sz="1100" b="1">
                    <a:solidFill>
                      <a:srgbClr val="1E293B"/>
                    </a:solidFill>
                  </a:rPr>
                  <a:t>Average value</a:t>
                </a:r>
              </a:p>
            </c:rich>
          </c:tx>
          <c:overlay val="0"/>
        </c:title>
        <c:numFmt formatCode="General" sourceLinked="1"/>
        <c:majorTickMark val="out"/>
        <c:minorTickMark val="none"/>
        <c:tickLblPos val="nextTo"/>
        <c:txPr>
          <a:bodyPr/>
          <a:lstStyle/>
          <a:p>
            <a:pPr>
              <a:defRPr sz="1100"/>
            </a:pPr>
            <a:endParaRPr lang="en-US"/>
          </a:p>
        </c:txPr>
        <c:crossAx val="-2068027336"/>
        <c:crosses val="autoZero"/>
        <c:crossBetween val="between"/>
      </c:valAx>
    </c:plotArea>
    <c:legend>
      <c:legendPos val="b"/>
      <c:overlay val="0"/>
      <c:txPr>
        <a:bodyPr/>
        <a:lstStyle/>
        <a:p>
          <a:pPr>
            <a:defRPr sz="1200"/>
          </a:pPr>
          <a:endParaRPr lang="en-US"/>
        </a:p>
      </c:txPr>
    </c:legend>
    <c:plotVisOnly val="1"/>
    <c:dispBlanksAs val="gap"/>
    <c:showDLblsOverMax val="1"/>
  </c:chart>
  <c:spPr>
    <a:solidFill>
      <a:srgbClr val="FFFFFF"/>
    </a:solidFill>
    <a:ln w="12700">
      <a:solidFill>
        <a:srgbClr val="DDD6EE"/>
      </a:solidFill>
    </a:ln>
  </c:spPr>
  <c:txPr>
    <a:bodyPr/>
    <a:lstStyle/>
    <a:p>
      <a:pPr>
        <a:defRPr sz="1200"/>
      </a:pPr>
      <a:endParaRPr lang="en-US"/>
    </a:p>
  </c:tx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pPr>
              <a:defRPr sz="1500" b="1"/>
            </a:pPr>
            <a:r>
              <a:rPr lang="en-US" sz="1500" b="1">
                <a:solidFill>
                  <a:srgbClr val="1E293B"/>
                </a:solidFill>
              </a:rPr>
              <a:t>Average Stress Level by Disorder</a:t>
            </a:r>
          </a:p>
        </c:rich>
      </c:tx>
      <c:overlay val="0"/>
    </c:title>
    <c:autoTitleDeleted val="0"/>
    <c:plotArea>
      <c:layout/>
      <c:barChart>
        <c:barDir val="col"/>
        <c:grouping val="clustered"/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Average Stress Level</c:v>
                </c:pt>
              </c:strCache>
            </c:strRef>
          </c:tx>
          <c:spPr>
            <a:solidFill>
              <a:srgbClr val="D9714A"/>
            </a:solidFill>
            <a:ln>
              <a:solidFill>
                <a:srgbClr val="D9714A"/>
              </a:solidFill>
            </a:ln>
          </c:spPr>
          <c:invertIfNegative val="1"/>
          <c:dPt>
            <c:idx val="1"/>
            <c:invertIfNegative val="1"/>
            <c:bubble3D val="0"/>
            <c:spPr>
              <a:solidFill>
                <a:schemeClr val="accent1"/>
              </a:solidFill>
              <a:ln>
                <a:solidFill>
                  <a:srgbClr val="D9714A"/>
                </a:solidFill>
              </a:ln>
            </c:spPr>
            <c:extLst>
              <c:ext xmlns:c16="http://schemas.microsoft.com/office/drawing/2014/chart" uri="{C3380CC4-5D6E-409C-BE32-E72D297353CC}">
                <c16:uniqueId val="{00000000-C3BE-4FE7-A4EB-C0F17148CD36}"/>
              </c:ext>
            </c:extLst>
          </c:dPt>
          <c:dLbls>
            <c:numFmt formatCode="0.00" sourceLinked="0"/>
            <c:spPr>
              <a:noFill/>
              <a:ln>
                <a:noFill/>
              </a:ln>
            </c:spPr>
            <c:txPr>
              <a:bodyPr/>
              <a:lstStyle/>
              <a:p>
                <a:pPr>
                  <a:defRPr sz="1400" b="1">
                    <a:solidFill>
                      <a:srgbClr val="1E293B"/>
                    </a:solidFill>
                  </a:defRPr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Sheet1!$A$2:$A$3</c:f>
              <c:strCache>
                <c:ptCount val="2"/>
                <c:pt idx="0">
                  <c:v>Insomnia</c:v>
                </c:pt>
                <c:pt idx="1">
                  <c:v>Sleep Apnea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6.03</c:v>
                </c:pt>
                <c:pt idx="1">
                  <c:v>5.93</c:v>
                </c:pt>
              </c:numCache>
            </c:numRef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  <a:ln>
                    <a:solidFill>
                      <a:srgbClr val="D9714A"/>
                    </a:solidFill>
                  </a:ln>
                </c14:spPr>
              </c14:invertSolidFillFmt>
            </c:ext>
            <c:ext xmlns:c16="http://schemas.microsoft.com/office/drawing/2014/chart" uri="{C3380CC4-5D6E-409C-BE32-E72D297353CC}">
              <c16:uniqueId val="{00000000-B2FB-467B-A047-FD91280ED77E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6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numFmt formatCode="General" sourceLinked="0"/>
        <c:majorTickMark val="out"/>
        <c:minorTickMark val="none"/>
        <c:tickLblPos val="nextTo"/>
        <c:txPr>
          <a:bodyPr/>
          <a:lstStyle/>
          <a:p>
            <a:pPr>
              <a:defRPr sz="1100"/>
            </a:pPr>
            <a:endParaRPr lang="en-US"/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orientation val="minMax"/>
          <c:max val="8"/>
          <c:min val="0"/>
        </c:scaling>
        <c:delete val="0"/>
        <c:axPos val="l"/>
        <c:majorGridlines>
          <c:spPr>
            <a:ln w="6350">
              <a:solidFill>
                <a:srgbClr val="D9D4E6"/>
              </a:solidFill>
              <a:prstDash val="dash"/>
            </a:ln>
          </c:spPr>
        </c:majorGridlines>
        <c:title>
          <c:tx>
            <c:rich>
              <a:bodyPr rot="-5400000" vert="horz"/>
              <a:lstStyle/>
              <a:p>
                <a:pPr>
                  <a:defRPr sz="1100" b="1"/>
                </a:pPr>
                <a:r>
                  <a:rPr lang="en-US" sz="1100" b="1">
                    <a:solidFill>
                      <a:srgbClr val="1E293B"/>
                    </a:solidFill>
                  </a:rPr>
                  <a:t>Stress level (1–10)</a:t>
                </a:r>
              </a:p>
            </c:rich>
          </c:tx>
          <c:overlay val="0"/>
        </c:title>
        <c:numFmt formatCode="General" sourceLinked="1"/>
        <c:majorTickMark val="out"/>
        <c:minorTickMark val="none"/>
        <c:tickLblPos val="nextTo"/>
        <c:txPr>
          <a:bodyPr/>
          <a:lstStyle/>
          <a:p>
            <a:pPr>
              <a:defRPr sz="1100"/>
            </a:pPr>
            <a:endParaRPr lang="en-US"/>
          </a:p>
        </c:txPr>
        <c:crossAx val="-2068027336"/>
        <c:crosses val="autoZero"/>
        <c:crossBetween val="between"/>
      </c:valAx>
    </c:plotArea>
    <c:plotVisOnly val="1"/>
    <c:dispBlanksAs val="gap"/>
    <c:showDLblsOverMax val="1"/>
  </c:chart>
  <c:spPr>
    <a:solidFill>
      <a:srgbClr val="FFFFFF"/>
    </a:solidFill>
    <a:ln w="12700">
      <a:solidFill>
        <a:srgbClr val="DDD6EE"/>
      </a:solidFill>
    </a:ln>
  </c:spPr>
  <c:txPr>
    <a:bodyPr/>
    <a:lstStyle/>
    <a:p>
      <a:pPr>
        <a:defRPr sz="1200"/>
      </a:pPr>
      <a:endParaRPr lang="en-US"/>
    </a:p>
  </c:tx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pPr>
              <a:defRPr sz="1300" b="1"/>
            </a:pPr>
            <a:r>
              <a:rPr lang="en-US" sz="1300" b="1">
                <a:solidFill>
                  <a:srgbClr val="1E293B"/>
                </a:solidFill>
              </a:rPr>
              <a:t>Average Stress &amp; Physical Activity by Disorder</a:t>
            </a:r>
          </a:p>
        </c:rich>
      </c:tx>
      <c:overlay val="0"/>
    </c:title>
    <c:autoTitleDeleted val="0"/>
    <c:plotArea>
      <c:layout/>
      <c:barChart>
        <c:barDir val="col"/>
        <c:grouping val="clustered"/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Physical Activity</c:v>
                </c:pt>
              </c:strCache>
            </c:strRef>
          </c:tx>
          <c:spPr>
            <a:solidFill>
              <a:srgbClr val="E8AA42"/>
            </a:solidFill>
            <a:ln>
              <a:solidFill>
                <a:srgbClr val="E8AA42"/>
              </a:solidFill>
            </a:ln>
          </c:spPr>
          <c:invertIfNegative val="1"/>
          <c:dLbls>
            <c:numFmt formatCode="0.00" sourceLinked="0"/>
            <c:spPr>
              <a:noFill/>
              <a:ln>
                <a:noFill/>
              </a:ln>
            </c:spPr>
            <c:txPr>
              <a:bodyPr/>
              <a:lstStyle/>
              <a:p>
                <a:pPr>
                  <a:defRPr sz="1300" b="1">
                    <a:solidFill>
                      <a:srgbClr val="1E293B"/>
                    </a:solidFill>
                  </a:defRPr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Sheet1!$A$2:$A$3</c:f>
              <c:strCache>
                <c:ptCount val="2"/>
                <c:pt idx="0">
                  <c:v>Insomnia</c:v>
                </c:pt>
                <c:pt idx="1">
                  <c:v>Sleep Apnea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48.1</c:v>
                </c:pt>
                <c:pt idx="1">
                  <c:v>67.569999999999993</c:v>
                </c:pt>
              </c:numCache>
            </c:numRef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  <a:ln>
                    <a:solidFill>
                      <a:srgbClr val="E8AA42"/>
                    </a:solidFill>
                  </a:ln>
                </c14:spPr>
              </c14:invertSolidFillFmt>
            </c:ext>
            <c:ext xmlns:c16="http://schemas.microsoft.com/office/drawing/2014/chart" uri="{C3380CC4-5D6E-409C-BE32-E72D297353CC}">
              <c16:uniqueId val="{00000000-458B-453D-A94F-407E87CAD8DE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Stress</c:v>
                </c:pt>
              </c:strCache>
            </c:strRef>
          </c:tx>
          <c:spPr>
            <a:solidFill>
              <a:srgbClr val="D9714A"/>
            </a:solidFill>
            <a:ln>
              <a:solidFill>
                <a:srgbClr val="D9714A"/>
              </a:solidFill>
            </a:ln>
          </c:spPr>
          <c:invertIfNegative val="1"/>
          <c:dLbls>
            <c:numFmt formatCode="0.00" sourceLinked="0"/>
            <c:spPr>
              <a:noFill/>
              <a:ln>
                <a:noFill/>
              </a:ln>
            </c:spPr>
            <c:txPr>
              <a:bodyPr/>
              <a:lstStyle/>
              <a:p>
                <a:pPr>
                  <a:defRPr sz="1300" b="1">
                    <a:solidFill>
                      <a:srgbClr val="1E293B"/>
                    </a:solidFill>
                  </a:defRPr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Sheet1!$A$2:$A$3</c:f>
              <c:strCache>
                <c:ptCount val="2"/>
                <c:pt idx="0">
                  <c:v>Insomnia</c:v>
                </c:pt>
                <c:pt idx="1">
                  <c:v>Sleep Apnea</c:v>
                </c:pt>
              </c:strCache>
            </c:strRef>
          </c:cat>
          <c:val>
            <c:numRef>
              <c:f>Sheet1!$C$2:$C$3</c:f>
              <c:numCache>
                <c:formatCode>General</c:formatCode>
                <c:ptCount val="2"/>
                <c:pt idx="0">
                  <c:v>6.03</c:v>
                </c:pt>
                <c:pt idx="1">
                  <c:v>5.93</c:v>
                </c:pt>
              </c:numCache>
            </c:numRef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  <a:ln>
                    <a:solidFill>
                      <a:srgbClr val="D9714A"/>
                    </a:solidFill>
                  </a:ln>
                </c14:spPr>
              </c14:invertSolidFillFmt>
            </c:ext>
            <c:ext xmlns:c16="http://schemas.microsoft.com/office/drawing/2014/chart" uri="{C3380CC4-5D6E-409C-BE32-E72D297353CC}">
              <c16:uniqueId val="{00000001-458B-453D-A94F-407E87CAD8DE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6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numFmt formatCode="General" sourceLinked="0"/>
        <c:majorTickMark val="out"/>
        <c:minorTickMark val="none"/>
        <c:tickLblPos val="nextTo"/>
        <c:txPr>
          <a:bodyPr/>
          <a:lstStyle/>
          <a:p>
            <a:pPr>
              <a:defRPr sz="1100"/>
            </a:pPr>
            <a:endParaRPr lang="en-US"/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orientation val="minMax"/>
          <c:max val="80"/>
          <c:min val="0"/>
        </c:scaling>
        <c:delete val="0"/>
        <c:axPos val="l"/>
        <c:majorGridlines>
          <c:spPr>
            <a:ln w="6350">
              <a:solidFill>
                <a:srgbClr val="D9D4E6"/>
              </a:solidFill>
              <a:prstDash val="dash"/>
            </a:ln>
          </c:spPr>
        </c:majorGridlines>
        <c:title>
          <c:tx>
            <c:rich>
              <a:bodyPr rot="-5400000" vert="horz"/>
              <a:lstStyle/>
              <a:p>
                <a:pPr>
                  <a:defRPr sz="1100" b="1"/>
                </a:pPr>
                <a:r>
                  <a:rPr lang="en-US" sz="1100" b="1">
                    <a:solidFill>
                      <a:srgbClr val="1E293B"/>
                    </a:solidFill>
                  </a:rPr>
                  <a:t>Score / Minutes</a:t>
                </a:r>
              </a:p>
            </c:rich>
          </c:tx>
          <c:overlay val="0"/>
        </c:title>
        <c:numFmt formatCode="General" sourceLinked="1"/>
        <c:majorTickMark val="out"/>
        <c:minorTickMark val="none"/>
        <c:tickLblPos val="nextTo"/>
        <c:txPr>
          <a:bodyPr/>
          <a:lstStyle/>
          <a:p>
            <a:pPr>
              <a:defRPr sz="1100"/>
            </a:pPr>
            <a:endParaRPr lang="en-US"/>
          </a:p>
        </c:txPr>
        <c:crossAx val="-2068027336"/>
        <c:crosses val="autoZero"/>
        <c:crossBetween val="between"/>
      </c:valAx>
    </c:plotArea>
    <c:legend>
      <c:legendPos val="b"/>
      <c:overlay val="0"/>
      <c:txPr>
        <a:bodyPr/>
        <a:lstStyle/>
        <a:p>
          <a:pPr>
            <a:defRPr sz="1200"/>
          </a:pPr>
          <a:endParaRPr lang="en-US"/>
        </a:p>
      </c:txPr>
    </c:legend>
    <c:plotVisOnly val="1"/>
    <c:dispBlanksAs val="gap"/>
    <c:showDLblsOverMax val="1"/>
  </c:chart>
  <c:spPr>
    <a:solidFill>
      <a:srgbClr val="FFFFFF"/>
    </a:solidFill>
    <a:ln w="12700">
      <a:solidFill>
        <a:srgbClr val="DDD6EE"/>
      </a:solidFill>
    </a:ln>
  </c:spPr>
  <c:txPr>
    <a:bodyPr/>
    <a:lstStyle/>
    <a:p>
      <a:pPr>
        <a:defRPr sz="1200"/>
      </a:pPr>
      <a:endParaRPr lang="en-US"/>
    </a:p>
  </c:tx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pPr>
              <a:defRPr sz="1300" b="1"/>
            </a:pPr>
            <a:r>
              <a:rPr lang="en-US" sz="1300" b="1">
                <a:solidFill>
                  <a:srgbClr val="1E293B"/>
                </a:solidFill>
              </a:rPr>
              <a:t>Average Daily Steps by Disorder</a:t>
            </a:r>
          </a:p>
        </c:rich>
      </c:tx>
      <c:overlay val="0"/>
    </c:title>
    <c:autoTitleDeleted val="0"/>
    <c:plotArea>
      <c:layout/>
      <c:barChart>
        <c:barDir val="col"/>
        <c:grouping val="clustered"/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Daily Steps</c:v>
                </c:pt>
              </c:strCache>
            </c:strRef>
          </c:tx>
          <c:spPr>
            <a:solidFill>
              <a:srgbClr val="2E86AB"/>
            </a:solidFill>
            <a:ln>
              <a:solidFill>
                <a:srgbClr val="2E86AB"/>
              </a:solidFill>
            </a:ln>
          </c:spPr>
          <c:invertIfNegative val="1"/>
          <c:dLbls>
            <c:numFmt formatCode="#,##0" sourceLinked="0"/>
            <c:spPr>
              <a:noFill/>
              <a:ln>
                <a:noFill/>
              </a:ln>
            </c:spPr>
            <c:txPr>
              <a:bodyPr/>
              <a:lstStyle/>
              <a:p>
                <a:pPr>
                  <a:defRPr sz="1300" b="1">
                    <a:solidFill>
                      <a:srgbClr val="1E293B"/>
                    </a:solidFill>
                  </a:defRPr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Sheet1!$A$2:$A$3</c:f>
              <c:strCache>
                <c:ptCount val="2"/>
                <c:pt idx="0">
                  <c:v>Insomnia</c:v>
                </c:pt>
                <c:pt idx="1">
                  <c:v>Sleep Apnea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5755.17</c:v>
                </c:pt>
                <c:pt idx="1">
                  <c:v>6946.67</c:v>
                </c:pt>
              </c:numCache>
            </c:numRef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  <a:ln>
                    <a:solidFill>
                      <a:srgbClr val="2E86AB"/>
                    </a:solidFill>
                  </a:ln>
                </c14:spPr>
              </c14:invertSolidFillFmt>
            </c:ext>
            <c:ext xmlns:c16="http://schemas.microsoft.com/office/drawing/2014/chart" uri="{C3380CC4-5D6E-409C-BE32-E72D297353CC}">
              <c16:uniqueId val="{00000000-35C7-468F-BE1F-9B6FAC927840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6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numFmt formatCode="General" sourceLinked="0"/>
        <c:majorTickMark val="out"/>
        <c:minorTickMark val="none"/>
        <c:tickLblPos val="nextTo"/>
        <c:txPr>
          <a:bodyPr/>
          <a:lstStyle/>
          <a:p>
            <a:pPr>
              <a:defRPr sz="1100"/>
            </a:pPr>
            <a:endParaRPr lang="en-US"/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orientation val="minMax"/>
          <c:max val="8000"/>
          <c:min val="0"/>
        </c:scaling>
        <c:delete val="0"/>
        <c:axPos val="l"/>
        <c:majorGridlines>
          <c:spPr>
            <a:ln w="6350">
              <a:solidFill>
                <a:srgbClr val="D9D4E6"/>
              </a:solidFill>
              <a:prstDash val="dash"/>
            </a:ln>
          </c:spPr>
        </c:majorGridlines>
        <c:title>
          <c:tx>
            <c:rich>
              <a:bodyPr rot="-5400000" vert="horz"/>
              <a:lstStyle/>
              <a:p>
                <a:pPr>
                  <a:defRPr sz="1100" b="1"/>
                </a:pPr>
                <a:r>
                  <a:rPr lang="en-US" sz="1100" b="1">
                    <a:solidFill>
                      <a:srgbClr val="1E293B"/>
                    </a:solidFill>
                  </a:rPr>
                  <a:t>Number of steps</a:t>
                </a:r>
              </a:p>
            </c:rich>
          </c:tx>
          <c:overlay val="0"/>
        </c:title>
        <c:numFmt formatCode="General" sourceLinked="1"/>
        <c:majorTickMark val="out"/>
        <c:minorTickMark val="none"/>
        <c:tickLblPos val="nextTo"/>
        <c:txPr>
          <a:bodyPr/>
          <a:lstStyle/>
          <a:p>
            <a:pPr>
              <a:defRPr sz="1100"/>
            </a:pPr>
            <a:endParaRPr lang="en-US"/>
          </a:p>
        </c:txPr>
        <c:crossAx val="-2068027336"/>
        <c:crosses val="autoZero"/>
        <c:crossBetween val="between"/>
      </c:valAx>
    </c:plotArea>
    <c:plotVisOnly val="1"/>
    <c:dispBlanksAs val="gap"/>
    <c:showDLblsOverMax val="1"/>
  </c:chart>
  <c:spPr>
    <a:solidFill>
      <a:srgbClr val="FFFFFF"/>
    </a:solidFill>
    <a:ln w="12700">
      <a:solidFill>
        <a:srgbClr val="DDD6EE"/>
      </a:solidFill>
    </a:ln>
  </c:spPr>
  <c:txPr>
    <a:bodyPr/>
    <a:lstStyle/>
    <a:p>
      <a:pPr>
        <a:defRPr sz="1200"/>
      </a:pPr>
      <a:endParaRPr lang="en-US"/>
    </a:p>
  </c:txPr>
  <c:externalData r:id="rId1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pPr>
              <a:defRPr sz="1500" b="1"/>
            </a:pPr>
            <a:r>
              <a:rPr lang="en-US" sz="1500" b="1">
                <a:solidFill>
                  <a:srgbClr val="1E293B"/>
                </a:solidFill>
              </a:rPr>
              <a:t>Disorder Type by Occupation</a:t>
            </a:r>
          </a:p>
        </c:rich>
      </c:tx>
      <c:overlay val="0"/>
    </c:title>
    <c:autoTitleDeleted val="0"/>
    <c:plotArea>
      <c:layout/>
      <c:barChart>
        <c:barDir val="col"/>
        <c:grouping val="clustered"/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Insomnia</c:v>
                </c:pt>
              </c:strCache>
            </c:strRef>
          </c:tx>
          <c:spPr>
            <a:solidFill>
              <a:srgbClr val="D9714A"/>
            </a:solidFill>
            <a:ln>
              <a:solidFill>
                <a:srgbClr val="D9714A"/>
              </a:solidFill>
            </a:ln>
          </c:spPr>
          <c:invertIfNegative val="1"/>
          <c:dLbls>
            <c:numFmt formatCode="General&quot;%&quot;" sourceLinked="0"/>
            <c:spPr>
              <a:noFill/>
              <a:ln>
                <a:noFill/>
              </a:ln>
            </c:spPr>
            <c:txPr>
              <a:bodyPr/>
              <a:lstStyle/>
              <a:p>
                <a:pPr>
                  <a:defRPr sz="1000" b="1">
                    <a:solidFill>
                      <a:srgbClr val="1E293B"/>
                    </a:solidFill>
                  </a:defRPr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Sheet1!$A$2:$A$10</c:f>
              <c:strCache>
                <c:ptCount val="9"/>
                <c:pt idx="0">
                  <c:v>Accountant</c:v>
                </c:pt>
                <c:pt idx="1">
                  <c:v>Doctor</c:v>
                </c:pt>
                <c:pt idx="2">
                  <c:v>Engineer</c:v>
                </c:pt>
                <c:pt idx="3">
                  <c:v>Lawyer</c:v>
                </c:pt>
                <c:pt idx="4">
                  <c:v>Nurse</c:v>
                </c:pt>
                <c:pt idx="5">
                  <c:v>Salesperson</c:v>
                </c:pt>
                <c:pt idx="6">
                  <c:v>Scientist</c:v>
                </c:pt>
                <c:pt idx="7">
                  <c:v>Software Eng.</c:v>
                </c:pt>
                <c:pt idx="8">
                  <c:v>Teacher</c:v>
                </c:pt>
              </c:strCache>
            </c:strRef>
          </c:cat>
          <c:val>
            <c:numRef>
              <c:f>Sheet1!$B$2:$B$10</c:f>
              <c:numCache>
                <c:formatCode>General</c:formatCode>
                <c:ptCount val="9"/>
                <c:pt idx="0">
                  <c:v>100</c:v>
                </c:pt>
                <c:pt idx="1">
                  <c:v>40</c:v>
                </c:pt>
                <c:pt idx="2">
                  <c:v>80</c:v>
                </c:pt>
                <c:pt idx="3">
                  <c:v>40</c:v>
                </c:pt>
                <c:pt idx="4">
                  <c:v>15</c:v>
                </c:pt>
                <c:pt idx="5">
                  <c:v>75</c:v>
                </c:pt>
                <c:pt idx="6">
                  <c:v>0</c:v>
                </c:pt>
                <c:pt idx="7">
                  <c:v>100</c:v>
                </c:pt>
                <c:pt idx="8">
                  <c:v>72.7</c:v>
                </c:pt>
              </c:numCache>
            </c:numRef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  <a:ln>
                    <a:solidFill>
                      <a:srgbClr val="D9714A"/>
                    </a:solidFill>
                  </a:ln>
                </c14:spPr>
              </c14:invertSolidFillFmt>
            </c:ext>
            <c:ext xmlns:c16="http://schemas.microsoft.com/office/drawing/2014/chart" uri="{C3380CC4-5D6E-409C-BE32-E72D297353CC}">
              <c16:uniqueId val="{00000000-6587-4AAD-B2FE-1B52036D6A0D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Sleep Apnea</c:v>
                </c:pt>
              </c:strCache>
            </c:strRef>
          </c:tx>
          <c:spPr>
            <a:solidFill>
              <a:srgbClr val="2E86AB"/>
            </a:solidFill>
            <a:ln>
              <a:solidFill>
                <a:srgbClr val="2E86AB"/>
              </a:solidFill>
            </a:ln>
          </c:spPr>
          <c:invertIfNegative val="1"/>
          <c:dLbls>
            <c:numFmt formatCode="General&quot;%&quot;" sourceLinked="0"/>
            <c:spPr>
              <a:noFill/>
              <a:ln>
                <a:noFill/>
              </a:ln>
            </c:spPr>
            <c:txPr>
              <a:bodyPr/>
              <a:lstStyle/>
              <a:p>
                <a:pPr>
                  <a:defRPr sz="1000" b="1">
                    <a:solidFill>
                      <a:srgbClr val="1E293B"/>
                    </a:solidFill>
                  </a:defRPr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Sheet1!$A$2:$A$10</c:f>
              <c:strCache>
                <c:ptCount val="9"/>
                <c:pt idx="0">
                  <c:v>Accountant</c:v>
                </c:pt>
                <c:pt idx="1">
                  <c:v>Doctor</c:v>
                </c:pt>
                <c:pt idx="2">
                  <c:v>Engineer</c:v>
                </c:pt>
                <c:pt idx="3">
                  <c:v>Lawyer</c:v>
                </c:pt>
                <c:pt idx="4">
                  <c:v>Nurse</c:v>
                </c:pt>
                <c:pt idx="5">
                  <c:v>Salesperson</c:v>
                </c:pt>
                <c:pt idx="6">
                  <c:v>Scientist</c:v>
                </c:pt>
                <c:pt idx="7">
                  <c:v>Software Eng.</c:v>
                </c:pt>
                <c:pt idx="8">
                  <c:v>Teacher</c:v>
                </c:pt>
              </c:strCache>
            </c:strRef>
          </c:cat>
          <c:val>
            <c:numRef>
              <c:f>Sheet1!$C$2:$C$10</c:f>
              <c:numCache>
                <c:formatCode>General</c:formatCode>
                <c:ptCount val="9"/>
                <c:pt idx="0">
                  <c:v>0</c:v>
                </c:pt>
                <c:pt idx="1">
                  <c:v>60</c:v>
                </c:pt>
                <c:pt idx="2">
                  <c:v>20</c:v>
                </c:pt>
                <c:pt idx="3">
                  <c:v>60</c:v>
                </c:pt>
                <c:pt idx="4">
                  <c:v>85</c:v>
                </c:pt>
                <c:pt idx="5">
                  <c:v>25</c:v>
                </c:pt>
                <c:pt idx="6">
                  <c:v>100</c:v>
                </c:pt>
                <c:pt idx="7">
                  <c:v>0</c:v>
                </c:pt>
                <c:pt idx="8">
                  <c:v>27.3</c:v>
                </c:pt>
              </c:numCache>
            </c:numRef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  <a:ln>
                    <a:solidFill>
                      <a:srgbClr val="2E86AB"/>
                    </a:solidFill>
                  </a:ln>
                </c14:spPr>
              </c14:invertSolidFillFmt>
            </c:ext>
            <c:ext xmlns:c16="http://schemas.microsoft.com/office/drawing/2014/chart" uri="{C3380CC4-5D6E-409C-BE32-E72D297353CC}">
              <c16:uniqueId val="{00000001-6587-4AAD-B2FE-1B52036D6A0D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4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numFmt formatCode="General" sourceLinked="0"/>
        <c:majorTickMark val="out"/>
        <c:minorTickMark val="none"/>
        <c:tickLblPos val="nextTo"/>
        <c:txPr>
          <a:bodyPr/>
          <a:lstStyle/>
          <a:p>
            <a:pPr>
              <a:defRPr sz="1000"/>
            </a:pPr>
            <a:endParaRPr lang="en-US"/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orientation val="minMax"/>
          <c:max val="115"/>
          <c:min val="0"/>
        </c:scaling>
        <c:delete val="0"/>
        <c:axPos val="l"/>
        <c:majorGridlines>
          <c:spPr>
            <a:ln w="6350">
              <a:solidFill>
                <a:srgbClr val="D9D4E6"/>
              </a:solidFill>
              <a:prstDash val="dash"/>
            </a:ln>
          </c:spPr>
        </c:majorGridlines>
        <c:title>
          <c:tx>
            <c:rich>
              <a:bodyPr rot="-5400000" vert="horz"/>
              <a:lstStyle/>
              <a:p>
                <a:pPr>
                  <a:defRPr sz="1100" b="1"/>
                </a:pPr>
                <a:r>
                  <a:rPr lang="en-US" sz="1100" b="1">
                    <a:solidFill>
                      <a:srgbClr val="1E293B"/>
                    </a:solidFill>
                  </a:rPr>
                  <a:t>Percentage (%)</a:t>
                </a:r>
              </a:p>
            </c:rich>
          </c:tx>
          <c:overlay val="0"/>
        </c:title>
        <c:numFmt formatCode="General" sourceLinked="1"/>
        <c:majorTickMark val="out"/>
        <c:minorTickMark val="none"/>
        <c:tickLblPos val="nextTo"/>
        <c:txPr>
          <a:bodyPr/>
          <a:lstStyle/>
          <a:p>
            <a:pPr>
              <a:defRPr sz="1000"/>
            </a:pPr>
            <a:endParaRPr lang="en-US"/>
          </a:p>
        </c:txPr>
        <c:crossAx val="-2068027336"/>
        <c:crosses val="autoZero"/>
        <c:crossBetween val="between"/>
      </c:valAx>
    </c:plotArea>
    <c:legend>
      <c:legendPos val="b"/>
      <c:overlay val="0"/>
      <c:txPr>
        <a:bodyPr/>
        <a:lstStyle/>
        <a:p>
          <a:pPr>
            <a:defRPr sz="1200"/>
          </a:pPr>
          <a:endParaRPr lang="en-US"/>
        </a:p>
      </c:txPr>
    </c:legend>
    <c:plotVisOnly val="1"/>
    <c:dispBlanksAs val="gap"/>
    <c:showDLblsOverMax val="1"/>
  </c:chart>
  <c:spPr>
    <a:solidFill>
      <a:srgbClr val="FFFFFF"/>
    </a:solidFill>
    <a:ln w="12700">
      <a:solidFill>
        <a:srgbClr val="DDD6EE"/>
      </a:solidFill>
    </a:ln>
  </c:spPr>
  <c:txPr>
    <a:bodyPr/>
    <a:lstStyle/>
    <a:p>
      <a:pPr>
        <a:defRPr sz="1200"/>
      </a:pPr>
      <a:endParaRPr lang="en-US"/>
    </a:p>
  </c:txPr>
  <c:externalData r:id="rId1">
    <c:autoUpdate val="0"/>
  </c:externalData>
</c:chartSpace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pPr>
              <a:defRPr sz="1500" b="1"/>
            </a:pPr>
            <a:r>
              <a:rPr lang="en-US" sz="1500" b="1">
                <a:solidFill>
                  <a:srgbClr val="1E293B"/>
                </a:solidFill>
              </a:rPr>
              <a:t>Disorder Type by BMI Category</a:t>
            </a:r>
          </a:p>
        </c:rich>
      </c:tx>
      <c:overlay val="0"/>
    </c:title>
    <c:autoTitleDeleted val="0"/>
    <c:plotArea>
      <c:layout/>
      <c:barChart>
        <c:barDir val="col"/>
        <c:grouping val="clustered"/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Insomnia %</c:v>
                </c:pt>
              </c:strCache>
            </c:strRef>
          </c:tx>
          <c:spPr>
            <a:solidFill>
              <a:srgbClr val="D9714A"/>
            </a:solidFill>
            <a:ln>
              <a:solidFill>
                <a:srgbClr val="D9714A"/>
              </a:solidFill>
            </a:ln>
          </c:spPr>
          <c:invertIfNegative val="1"/>
          <c:dLbls>
            <c:numFmt formatCode="General&quot;%&quot;" sourceLinked="0"/>
            <c:spPr>
              <a:noFill/>
              <a:ln>
                <a:noFill/>
              </a:ln>
            </c:spPr>
            <c:txPr>
              <a:bodyPr/>
              <a:lstStyle/>
              <a:p>
                <a:pPr>
                  <a:defRPr sz="1300" b="1">
                    <a:solidFill>
                      <a:srgbClr val="1E293B"/>
                    </a:solidFill>
                  </a:defRPr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Sheet1!$A$2:$A$4</c:f>
              <c:strCache>
                <c:ptCount val="3"/>
                <c:pt idx="0">
                  <c:v>Normal</c:v>
                </c:pt>
                <c:pt idx="1">
                  <c:v>Obese</c:v>
                </c:pt>
                <c:pt idx="2">
                  <c:v>Overweight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53.3</c:v>
                </c:pt>
                <c:pt idx="1">
                  <c:v>42.9</c:v>
                </c:pt>
                <c:pt idx="2">
                  <c:v>48.6</c:v>
                </c:pt>
              </c:numCache>
            </c:numRef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  <a:ln>
                    <a:solidFill>
                      <a:srgbClr val="D9714A"/>
                    </a:solidFill>
                  </a:ln>
                </c14:spPr>
              </c14:invertSolidFillFmt>
            </c:ext>
            <c:ext xmlns:c16="http://schemas.microsoft.com/office/drawing/2014/chart" uri="{C3380CC4-5D6E-409C-BE32-E72D297353CC}">
              <c16:uniqueId val="{00000000-74BB-4895-A4D4-824DC9FBEE7F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Sleep Apnea %</c:v>
                </c:pt>
              </c:strCache>
            </c:strRef>
          </c:tx>
          <c:spPr>
            <a:solidFill>
              <a:srgbClr val="2E86AB"/>
            </a:solidFill>
            <a:ln>
              <a:solidFill>
                <a:srgbClr val="2E86AB"/>
              </a:solidFill>
            </a:ln>
          </c:spPr>
          <c:invertIfNegative val="1"/>
          <c:dLbls>
            <c:numFmt formatCode="General&quot;%&quot;" sourceLinked="0"/>
            <c:spPr>
              <a:noFill/>
              <a:ln>
                <a:noFill/>
              </a:ln>
            </c:spPr>
            <c:txPr>
              <a:bodyPr/>
              <a:lstStyle/>
              <a:p>
                <a:pPr>
                  <a:defRPr sz="1300" b="1">
                    <a:solidFill>
                      <a:srgbClr val="1E293B"/>
                    </a:solidFill>
                  </a:defRPr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Sheet1!$A$2:$A$4</c:f>
              <c:strCache>
                <c:ptCount val="3"/>
                <c:pt idx="0">
                  <c:v>Normal</c:v>
                </c:pt>
                <c:pt idx="1">
                  <c:v>Obese</c:v>
                </c:pt>
                <c:pt idx="2">
                  <c:v>Overweight</c:v>
                </c:pt>
              </c:strCache>
            </c: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46.7</c:v>
                </c:pt>
                <c:pt idx="1">
                  <c:v>57.1</c:v>
                </c:pt>
                <c:pt idx="2">
                  <c:v>51.4</c:v>
                </c:pt>
              </c:numCache>
            </c:numRef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  <a:ln>
                    <a:solidFill>
                      <a:srgbClr val="2E86AB"/>
                    </a:solidFill>
                  </a:ln>
                </c14:spPr>
              </c14:invertSolidFillFmt>
            </c:ext>
            <c:ext xmlns:c16="http://schemas.microsoft.com/office/drawing/2014/chart" uri="{C3380CC4-5D6E-409C-BE32-E72D297353CC}">
              <c16:uniqueId val="{00000001-74BB-4895-A4D4-824DC9FBEE7F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6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numFmt formatCode="General" sourceLinked="0"/>
        <c:majorTickMark val="out"/>
        <c:minorTickMark val="none"/>
        <c:tickLblPos val="nextTo"/>
        <c:txPr>
          <a:bodyPr/>
          <a:lstStyle/>
          <a:p>
            <a:pPr>
              <a:defRPr sz="1100"/>
            </a:pPr>
            <a:endParaRPr lang="en-US"/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orientation val="minMax"/>
          <c:max val="115"/>
          <c:min val="0"/>
        </c:scaling>
        <c:delete val="0"/>
        <c:axPos val="l"/>
        <c:majorGridlines>
          <c:spPr>
            <a:ln w="6350">
              <a:solidFill>
                <a:srgbClr val="D9D4E6"/>
              </a:solidFill>
              <a:prstDash val="dash"/>
            </a:ln>
          </c:spPr>
        </c:majorGridlines>
        <c:title>
          <c:tx>
            <c:rich>
              <a:bodyPr rot="-5400000" vert="horz"/>
              <a:lstStyle/>
              <a:p>
                <a:pPr>
                  <a:defRPr sz="1100" b="1"/>
                </a:pPr>
                <a:r>
                  <a:rPr lang="en-US" sz="1100" b="1">
                    <a:solidFill>
                      <a:srgbClr val="1E293B"/>
                    </a:solidFill>
                  </a:rPr>
                  <a:t>Percentage (%)</a:t>
                </a:r>
              </a:p>
            </c:rich>
          </c:tx>
          <c:overlay val="0"/>
        </c:title>
        <c:numFmt formatCode="General" sourceLinked="1"/>
        <c:majorTickMark val="out"/>
        <c:minorTickMark val="none"/>
        <c:tickLblPos val="nextTo"/>
        <c:txPr>
          <a:bodyPr/>
          <a:lstStyle/>
          <a:p>
            <a:pPr>
              <a:defRPr sz="1100"/>
            </a:pPr>
            <a:endParaRPr lang="en-US"/>
          </a:p>
        </c:txPr>
        <c:crossAx val="-2068027336"/>
        <c:crosses val="autoZero"/>
        <c:crossBetween val="between"/>
      </c:valAx>
    </c:plotArea>
    <c:legend>
      <c:legendPos val="b"/>
      <c:overlay val="0"/>
      <c:txPr>
        <a:bodyPr/>
        <a:lstStyle/>
        <a:p>
          <a:pPr>
            <a:defRPr sz="1200"/>
          </a:pPr>
          <a:endParaRPr lang="en-US"/>
        </a:p>
      </c:txPr>
    </c:legend>
    <c:plotVisOnly val="1"/>
    <c:dispBlanksAs val="gap"/>
    <c:showDLblsOverMax val="1"/>
  </c:chart>
  <c:spPr>
    <a:solidFill>
      <a:srgbClr val="FFFFFF"/>
    </a:solidFill>
    <a:ln w="12700">
      <a:solidFill>
        <a:srgbClr val="DDD6EE"/>
      </a:solidFill>
    </a:ln>
  </c:spPr>
  <c:txPr>
    <a:bodyPr/>
    <a:lstStyle/>
    <a:p>
      <a:pPr>
        <a:defRPr sz="1200"/>
      </a:pPr>
      <a:endParaRPr lang="en-US"/>
    </a:p>
  </c:txPr>
  <c:externalData r:id="rId1">
    <c:autoUpdate val="0"/>
  </c:externalData>
</c:chartSpace>
</file>

<file path=ppt/charts/chart8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pPr>
              <a:defRPr sz="1500" b="1"/>
            </a:pPr>
            <a:r>
              <a:rPr lang="en-US" sz="1500" b="1">
                <a:solidFill>
                  <a:srgbClr val="1E293B"/>
                </a:solidFill>
              </a:rPr>
              <a:t>Disorder Type by Gender</a:t>
            </a:r>
          </a:p>
        </c:rich>
      </c:tx>
      <c:overlay val="0"/>
    </c:title>
    <c:autoTitleDeleted val="0"/>
    <c:plotArea>
      <c:layout/>
      <c:barChart>
        <c:barDir val="col"/>
        <c:grouping val="clustered"/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Insomnia %</c:v>
                </c:pt>
              </c:strCache>
            </c:strRef>
          </c:tx>
          <c:spPr>
            <a:solidFill>
              <a:srgbClr val="D9714A"/>
            </a:solidFill>
            <a:ln>
              <a:solidFill>
                <a:srgbClr val="D9714A"/>
              </a:solidFill>
            </a:ln>
          </c:spPr>
          <c:invertIfNegative val="1"/>
          <c:dLbls>
            <c:numFmt formatCode="General&quot;%&quot;" sourceLinked="0"/>
            <c:spPr>
              <a:noFill/>
              <a:ln>
                <a:noFill/>
              </a:ln>
            </c:spPr>
            <c:txPr>
              <a:bodyPr/>
              <a:lstStyle/>
              <a:p>
                <a:pPr>
                  <a:defRPr sz="1300" b="1">
                    <a:solidFill>
                      <a:srgbClr val="1E293B"/>
                    </a:solidFill>
                  </a:defRPr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Sheet1!$A$2:$A$3</c:f>
              <c:strCache>
                <c:ptCount val="2"/>
                <c:pt idx="0">
                  <c:v>Female</c:v>
                </c:pt>
                <c:pt idx="1">
                  <c:v>Male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38.200000000000003</c:v>
                </c:pt>
                <c:pt idx="1">
                  <c:v>64</c:v>
                </c:pt>
              </c:numCache>
            </c:numRef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  <a:ln>
                    <a:solidFill>
                      <a:srgbClr val="D9714A"/>
                    </a:solidFill>
                  </a:ln>
                </c14:spPr>
              </c14:invertSolidFillFmt>
            </c:ext>
            <c:ext xmlns:c16="http://schemas.microsoft.com/office/drawing/2014/chart" uri="{C3380CC4-5D6E-409C-BE32-E72D297353CC}">
              <c16:uniqueId val="{00000000-54E2-4BEC-A063-F62C3C8E4A10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Sleep Apnea %</c:v>
                </c:pt>
              </c:strCache>
            </c:strRef>
          </c:tx>
          <c:spPr>
            <a:solidFill>
              <a:srgbClr val="2E86AB"/>
            </a:solidFill>
            <a:ln>
              <a:solidFill>
                <a:srgbClr val="2E86AB"/>
              </a:solidFill>
            </a:ln>
          </c:spPr>
          <c:invertIfNegative val="1"/>
          <c:dLbls>
            <c:numFmt formatCode="General&quot;%&quot;" sourceLinked="0"/>
            <c:spPr>
              <a:noFill/>
              <a:ln>
                <a:noFill/>
              </a:ln>
            </c:spPr>
            <c:txPr>
              <a:bodyPr/>
              <a:lstStyle/>
              <a:p>
                <a:pPr>
                  <a:defRPr sz="1300" b="1">
                    <a:solidFill>
                      <a:srgbClr val="1E293B"/>
                    </a:solidFill>
                  </a:defRPr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Sheet1!$A$2:$A$3</c:f>
              <c:strCache>
                <c:ptCount val="2"/>
                <c:pt idx="0">
                  <c:v>Female</c:v>
                </c:pt>
                <c:pt idx="1">
                  <c:v>Male</c:v>
                </c:pt>
              </c:strCache>
            </c:strRef>
          </c:cat>
          <c:val>
            <c:numRef>
              <c:f>Sheet1!$C$2:$C$3</c:f>
              <c:numCache>
                <c:formatCode>General</c:formatCode>
                <c:ptCount val="2"/>
                <c:pt idx="0">
                  <c:v>61.8</c:v>
                </c:pt>
                <c:pt idx="1">
                  <c:v>36</c:v>
                </c:pt>
              </c:numCache>
            </c:numRef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  <a:ln>
                    <a:solidFill>
                      <a:srgbClr val="2E86AB"/>
                    </a:solidFill>
                  </a:ln>
                </c14:spPr>
              </c14:invertSolidFillFmt>
            </c:ext>
            <c:ext xmlns:c16="http://schemas.microsoft.com/office/drawing/2014/chart" uri="{C3380CC4-5D6E-409C-BE32-E72D297353CC}">
              <c16:uniqueId val="{00000001-54E2-4BEC-A063-F62C3C8E4A10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6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numFmt formatCode="General" sourceLinked="0"/>
        <c:majorTickMark val="out"/>
        <c:minorTickMark val="none"/>
        <c:tickLblPos val="nextTo"/>
        <c:txPr>
          <a:bodyPr/>
          <a:lstStyle/>
          <a:p>
            <a:pPr>
              <a:defRPr sz="1100"/>
            </a:pPr>
            <a:endParaRPr lang="en-US"/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orientation val="minMax"/>
          <c:max val="115"/>
          <c:min val="0"/>
        </c:scaling>
        <c:delete val="0"/>
        <c:axPos val="l"/>
        <c:majorGridlines>
          <c:spPr>
            <a:ln w="6350">
              <a:solidFill>
                <a:srgbClr val="D9D4E6"/>
              </a:solidFill>
              <a:prstDash val="dash"/>
            </a:ln>
          </c:spPr>
        </c:majorGridlines>
        <c:title>
          <c:tx>
            <c:rich>
              <a:bodyPr rot="-5400000" vert="horz"/>
              <a:lstStyle/>
              <a:p>
                <a:pPr>
                  <a:defRPr sz="1100" b="1"/>
                </a:pPr>
                <a:r>
                  <a:rPr lang="en-US" sz="1100" b="1">
                    <a:solidFill>
                      <a:srgbClr val="1E293B"/>
                    </a:solidFill>
                  </a:rPr>
                  <a:t>Percentage (%)</a:t>
                </a:r>
              </a:p>
            </c:rich>
          </c:tx>
          <c:overlay val="0"/>
        </c:title>
        <c:numFmt formatCode="General" sourceLinked="1"/>
        <c:majorTickMark val="out"/>
        <c:minorTickMark val="none"/>
        <c:tickLblPos val="nextTo"/>
        <c:txPr>
          <a:bodyPr/>
          <a:lstStyle/>
          <a:p>
            <a:pPr>
              <a:defRPr sz="1100"/>
            </a:pPr>
            <a:endParaRPr lang="en-US"/>
          </a:p>
        </c:txPr>
        <c:crossAx val="-2068027336"/>
        <c:crosses val="autoZero"/>
        <c:crossBetween val="between"/>
      </c:valAx>
    </c:plotArea>
    <c:legend>
      <c:legendPos val="b"/>
      <c:overlay val="0"/>
      <c:txPr>
        <a:bodyPr/>
        <a:lstStyle/>
        <a:p>
          <a:pPr>
            <a:defRPr sz="1200"/>
          </a:pPr>
          <a:endParaRPr lang="en-US"/>
        </a:p>
      </c:txPr>
    </c:legend>
    <c:plotVisOnly val="1"/>
    <c:dispBlanksAs val="gap"/>
    <c:showDLblsOverMax val="1"/>
  </c:chart>
  <c:spPr>
    <a:solidFill>
      <a:srgbClr val="FFFFFF"/>
    </a:solidFill>
    <a:ln w="12700">
      <a:solidFill>
        <a:srgbClr val="DDD6EE"/>
      </a:solidFill>
    </a:ln>
  </c:spPr>
  <c:txPr>
    <a:bodyPr/>
    <a:lstStyle/>
    <a:p>
      <a:pPr>
        <a:defRPr sz="1200"/>
      </a:pPr>
      <a:endParaRPr lang="en-US"/>
    </a:p>
  </c:txPr>
  <c:externalData r:id="rId1">
    <c:autoUpdate val="0"/>
  </c:externalData>
</c:chartSpace>
</file>

<file path=ppt/charts/chart9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pPr>
              <a:defRPr sz="1500" b="1"/>
            </a:pPr>
            <a:r>
              <a:rPr lang="en-US" sz="1500" b="1">
                <a:solidFill>
                  <a:srgbClr val="1E293B"/>
                </a:solidFill>
              </a:rPr>
              <a:t>Disorder Type by Age Group</a:t>
            </a:r>
          </a:p>
        </c:rich>
      </c:tx>
      <c:overlay val="0"/>
    </c:title>
    <c:autoTitleDeleted val="0"/>
    <c:plotArea>
      <c:layout/>
      <c:barChart>
        <c:barDir val="col"/>
        <c:grouping val="clustered"/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Insomnia %</c:v>
                </c:pt>
              </c:strCache>
            </c:strRef>
          </c:tx>
          <c:spPr>
            <a:solidFill>
              <a:srgbClr val="D9714A"/>
            </a:solidFill>
            <a:ln>
              <a:solidFill>
                <a:srgbClr val="D9714A"/>
              </a:solidFill>
            </a:ln>
          </c:spPr>
          <c:invertIfNegative val="1"/>
          <c:dLbls>
            <c:numFmt formatCode="General&quot;%&quot;" sourceLinked="0"/>
            <c:spPr>
              <a:noFill/>
              <a:ln>
                <a:noFill/>
              </a:ln>
            </c:spPr>
            <c:txPr>
              <a:bodyPr/>
              <a:lstStyle/>
              <a:p>
                <a:pPr>
                  <a:defRPr sz="1300" b="1">
                    <a:solidFill>
                      <a:srgbClr val="1E293B"/>
                    </a:solidFill>
                  </a:defRPr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Sheet1!$A$2:$A$5</c:f>
              <c:strCache>
                <c:ptCount val="4"/>
                <c:pt idx="0">
                  <c:v>18–29</c:v>
                </c:pt>
                <c:pt idx="1">
                  <c:v>30–39</c:v>
                </c:pt>
                <c:pt idx="2">
                  <c:v>40–49</c:v>
                </c:pt>
                <c:pt idx="3">
                  <c:v>50+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50</c:v>
                </c:pt>
                <c:pt idx="1">
                  <c:v>42.9</c:v>
                </c:pt>
                <c:pt idx="2">
                  <c:v>66.7</c:v>
                </c:pt>
                <c:pt idx="3">
                  <c:v>26.7</c:v>
                </c:pt>
              </c:numCache>
            </c:numRef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  <a:ln>
                    <a:solidFill>
                      <a:srgbClr val="D9714A"/>
                    </a:solidFill>
                  </a:ln>
                </c14:spPr>
              </c14:invertSolidFillFmt>
            </c:ext>
            <c:ext xmlns:c16="http://schemas.microsoft.com/office/drawing/2014/chart" uri="{C3380CC4-5D6E-409C-BE32-E72D297353CC}">
              <c16:uniqueId val="{00000000-5C86-4F71-8601-F621F1E5C9AC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Sleep Apnea %</c:v>
                </c:pt>
              </c:strCache>
            </c:strRef>
          </c:tx>
          <c:spPr>
            <a:solidFill>
              <a:srgbClr val="2E86AB"/>
            </a:solidFill>
            <a:ln>
              <a:solidFill>
                <a:srgbClr val="2E86AB"/>
              </a:solidFill>
            </a:ln>
          </c:spPr>
          <c:invertIfNegative val="1"/>
          <c:dLbls>
            <c:numFmt formatCode="General&quot;%&quot;" sourceLinked="0"/>
            <c:spPr>
              <a:noFill/>
              <a:ln>
                <a:noFill/>
              </a:ln>
            </c:spPr>
            <c:txPr>
              <a:bodyPr/>
              <a:lstStyle/>
              <a:p>
                <a:pPr>
                  <a:defRPr sz="1300" b="1">
                    <a:solidFill>
                      <a:srgbClr val="1E293B"/>
                    </a:solidFill>
                  </a:defRPr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Sheet1!$A$2:$A$5</c:f>
              <c:strCache>
                <c:ptCount val="4"/>
                <c:pt idx="0">
                  <c:v>18–29</c:v>
                </c:pt>
                <c:pt idx="1">
                  <c:v>30–39</c:v>
                </c:pt>
                <c:pt idx="2">
                  <c:v>40–49</c:v>
                </c:pt>
                <c:pt idx="3">
                  <c:v>50+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50</c:v>
                </c:pt>
                <c:pt idx="1">
                  <c:v>57.1</c:v>
                </c:pt>
                <c:pt idx="2">
                  <c:v>33.299999999999997</c:v>
                </c:pt>
                <c:pt idx="3">
                  <c:v>73.3</c:v>
                </c:pt>
              </c:numCache>
            </c:numRef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  <a:ln>
                    <a:solidFill>
                      <a:srgbClr val="2E86AB"/>
                    </a:solidFill>
                  </a:ln>
                </c14:spPr>
              </c14:invertSolidFillFmt>
            </c:ext>
            <c:ext xmlns:c16="http://schemas.microsoft.com/office/drawing/2014/chart" uri="{C3380CC4-5D6E-409C-BE32-E72D297353CC}">
              <c16:uniqueId val="{00000001-5C86-4F71-8601-F621F1E5C9AC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6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numFmt formatCode="General" sourceLinked="0"/>
        <c:majorTickMark val="out"/>
        <c:minorTickMark val="none"/>
        <c:tickLblPos val="nextTo"/>
        <c:txPr>
          <a:bodyPr/>
          <a:lstStyle/>
          <a:p>
            <a:pPr>
              <a:defRPr sz="1100"/>
            </a:pPr>
            <a:endParaRPr lang="en-US"/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orientation val="minMax"/>
          <c:max val="115"/>
          <c:min val="0"/>
        </c:scaling>
        <c:delete val="0"/>
        <c:axPos val="l"/>
        <c:majorGridlines>
          <c:spPr>
            <a:ln w="6350">
              <a:solidFill>
                <a:srgbClr val="D9D4E6"/>
              </a:solidFill>
              <a:prstDash val="dash"/>
            </a:ln>
          </c:spPr>
        </c:majorGridlines>
        <c:title>
          <c:tx>
            <c:rich>
              <a:bodyPr rot="-5400000" vert="horz"/>
              <a:lstStyle/>
              <a:p>
                <a:pPr>
                  <a:defRPr sz="1100" b="1"/>
                </a:pPr>
                <a:r>
                  <a:rPr lang="en-US" sz="1100" b="1">
                    <a:solidFill>
                      <a:srgbClr val="1E293B"/>
                    </a:solidFill>
                  </a:rPr>
                  <a:t>Percentage (%)</a:t>
                </a:r>
              </a:p>
            </c:rich>
          </c:tx>
          <c:overlay val="0"/>
        </c:title>
        <c:numFmt formatCode="General" sourceLinked="1"/>
        <c:majorTickMark val="out"/>
        <c:minorTickMark val="none"/>
        <c:tickLblPos val="nextTo"/>
        <c:txPr>
          <a:bodyPr/>
          <a:lstStyle/>
          <a:p>
            <a:pPr>
              <a:defRPr sz="1100"/>
            </a:pPr>
            <a:endParaRPr lang="en-US"/>
          </a:p>
        </c:txPr>
        <c:crossAx val="-2068027336"/>
        <c:crosses val="autoZero"/>
        <c:crossBetween val="between"/>
      </c:valAx>
    </c:plotArea>
    <c:legend>
      <c:legendPos val="b"/>
      <c:overlay val="0"/>
      <c:txPr>
        <a:bodyPr/>
        <a:lstStyle/>
        <a:p>
          <a:pPr>
            <a:defRPr sz="1200"/>
          </a:pPr>
          <a:endParaRPr lang="en-US"/>
        </a:p>
      </c:txPr>
    </c:legend>
    <c:plotVisOnly val="1"/>
    <c:dispBlanksAs val="gap"/>
    <c:showDLblsOverMax val="1"/>
  </c:chart>
  <c:spPr>
    <a:solidFill>
      <a:srgbClr val="FFFFFF"/>
    </a:solidFill>
    <a:ln w="12700">
      <a:solidFill>
        <a:srgbClr val="DDD6EE"/>
      </a:solidFill>
    </a:ln>
  </c:spPr>
  <c:txPr>
    <a:bodyPr/>
    <a:lstStyle/>
    <a:p>
      <a:pPr>
        <a:defRPr sz="1200"/>
      </a:pPr>
      <a:endParaRPr lang="en-US"/>
    </a:p>
  </c:txPr>
  <c:externalData r:id="rId1">
    <c:autoUpdate val="0"/>
  </c:externalData>
</c:chartSpace>
</file>

<file path=ppt/charts/chart10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pPr>
              <a:defRPr sz="1500" b="1"/>
            </a:pPr>
            <a:r>
              <a:rPr lang="en-US" sz="1500" b="1">
                <a:solidFill>
                  <a:srgbClr val="1E293B"/>
                </a:solidFill>
              </a:rPr>
              <a:t>Average Blood Pressure by Disorder</a:t>
            </a:r>
          </a:p>
        </c:rich>
      </c:tx>
      <c:overlay val="0"/>
    </c:title>
    <c:autoTitleDeleted val="0"/>
    <c:plotArea>
      <c:layout/>
      <c:barChart>
        <c:barDir val="col"/>
        <c:grouping val="clustered"/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Higher BP</c:v>
                </c:pt>
              </c:strCache>
            </c:strRef>
          </c:tx>
          <c:spPr>
            <a:solidFill>
              <a:srgbClr val="D9714A"/>
            </a:solidFill>
            <a:ln>
              <a:solidFill>
                <a:srgbClr val="D9714A"/>
              </a:solidFill>
            </a:ln>
          </c:spPr>
          <c:invertIfNegative val="1"/>
          <c:dLbls>
            <c:numFmt formatCode="0.00" sourceLinked="0"/>
            <c:spPr>
              <a:noFill/>
              <a:ln>
                <a:noFill/>
              </a:ln>
            </c:spPr>
            <c:txPr>
              <a:bodyPr/>
              <a:lstStyle/>
              <a:p>
                <a:pPr>
                  <a:defRPr sz="1300" b="1">
                    <a:solidFill>
                      <a:srgbClr val="1E293B"/>
                    </a:solidFill>
                  </a:defRPr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Sheet1!$A$2:$A$3</c:f>
              <c:strCache>
                <c:ptCount val="2"/>
                <c:pt idx="0">
                  <c:v>Insomnia</c:v>
                </c:pt>
                <c:pt idx="1">
                  <c:v>Sleep Apnea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131.72</c:v>
                </c:pt>
                <c:pt idx="1">
                  <c:v>134.87</c:v>
                </c:pt>
              </c:numCache>
            </c:numRef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  <a:ln>
                    <a:solidFill>
                      <a:srgbClr val="D9714A"/>
                    </a:solidFill>
                  </a:ln>
                </c14:spPr>
              </c14:invertSolidFillFmt>
            </c:ext>
            <c:ext xmlns:c16="http://schemas.microsoft.com/office/drawing/2014/chart" uri="{C3380CC4-5D6E-409C-BE32-E72D297353CC}">
              <c16:uniqueId val="{00000000-1E19-45CF-AB89-FB1EC493F58B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Lower BP</c:v>
                </c:pt>
              </c:strCache>
            </c:strRef>
          </c:tx>
          <c:spPr>
            <a:solidFill>
              <a:srgbClr val="2E86AB"/>
            </a:solidFill>
            <a:ln>
              <a:solidFill>
                <a:srgbClr val="2E86AB"/>
              </a:solidFill>
            </a:ln>
          </c:spPr>
          <c:invertIfNegative val="1"/>
          <c:dLbls>
            <c:numFmt formatCode="0.00" sourceLinked="0"/>
            <c:spPr>
              <a:noFill/>
              <a:ln>
                <a:noFill/>
              </a:ln>
            </c:spPr>
            <c:txPr>
              <a:bodyPr/>
              <a:lstStyle/>
              <a:p>
                <a:pPr>
                  <a:defRPr sz="1300" b="1">
                    <a:solidFill>
                      <a:srgbClr val="1E293B"/>
                    </a:solidFill>
                  </a:defRPr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Sheet1!$A$2:$A$3</c:f>
              <c:strCache>
                <c:ptCount val="2"/>
                <c:pt idx="0">
                  <c:v>Insomnia</c:v>
                </c:pt>
                <c:pt idx="1">
                  <c:v>Sleep Apnea</c:v>
                </c:pt>
              </c:strCache>
            </c:strRef>
          </c:cat>
          <c:val>
            <c:numRef>
              <c:f>Sheet1!$C$2:$C$3</c:f>
              <c:numCache>
                <c:formatCode>General</c:formatCode>
                <c:ptCount val="2"/>
                <c:pt idx="0">
                  <c:v>86.41</c:v>
                </c:pt>
                <c:pt idx="1">
                  <c:v>90</c:v>
                </c:pt>
              </c:numCache>
            </c:numRef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  <a:ln>
                    <a:solidFill>
                      <a:srgbClr val="2E86AB"/>
                    </a:solidFill>
                  </a:ln>
                </c14:spPr>
              </c14:invertSolidFillFmt>
            </c:ext>
            <c:ext xmlns:c16="http://schemas.microsoft.com/office/drawing/2014/chart" uri="{C3380CC4-5D6E-409C-BE32-E72D297353CC}">
              <c16:uniqueId val="{00000001-1E19-45CF-AB89-FB1EC493F58B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6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numFmt formatCode="General" sourceLinked="0"/>
        <c:majorTickMark val="out"/>
        <c:minorTickMark val="none"/>
        <c:tickLblPos val="nextTo"/>
        <c:txPr>
          <a:bodyPr/>
          <a:lstStyle/>
          <a:p>
            <a:pPr>
              <a:defRPr sz="1100"/>
            </a:pPr>
            <a:endParaRPr lang="en-US"/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orientation val="minMax"/>
          <c:max val="160"/>
          <c:min val="0"/>
        </c:scaling>
        <c:delete val="0"/>
        <c:axPos val="l"/>
        <c:majorGridlines>
          <c:spPr>
            <a:ln w="6350">
              <a:solidFill>
                <a:srgbClr val="D9D4E6"/>
              </a:solidFill>
              <a:prstDash val="dash"/>
            </a:ln>
          </c:spPr>
        </c:majorGridlines>
        <c:title>
          <c:tx>
            <c:rich>
              <a:bodyPr rot="-5400000" vert="horz"/>
              <a:lstStyle/>
              <a:p>
                <a:pPr>
                  <a:defRPr sz="1100" b="1"/>
                </a:pPr>
                <a:r>
                  <a:rPr lang="en-US" sz="1100" b="1">
                    <a:solidFill>
                      <a:srgbClr val="1E293B"/>
                    </a:solidFill>
                  </a:rPr>
                  <a:t>mmHg</a:t>
                </a:r>
              </a:p>
            </c:rich>
          </c:tx>
          <c:overlay val="0"/>
        </c:title>
        <c:numFmt formatCode="General" sourceLinked="1"/>
        <c:majorTickMark val="out"/>
        <c:minorTickMark val="none"/>
        <c:tickLblPos val="nextTo"/>
        <c:txPr>
          <a:bodyPr/>
          <a:lstStyle/>
          <a:p>
            <a:pPr>
              <a:defRPr sz="1100"/>
            </a:pPr>
            <a:endParaRPr lang="en-US"/>
          </a:p>
        </c:txPr>
        <c:crossAx val="-2068027336"/>
        <c:crosses val="autoZero"/>
        <c:crossBetween val="between"/>
      </c:valAx>
    </c:plotArea>
    <c:legend>
      <c:legendPos val="b"/>
      <c:overlay val="0"/>
      <c:txPr>
        <a:bodyPr/>
        <a:lstStyle/>
        <a:p>
          <a:pPr>
            <a:defRPr sz="1200"/>
          </a:pPr>
          <a:endParaRPr lang="en-US"/>
        </a:p>
      </c:txPr>
    </c:legend>
    <c:plotVisOnly val="1"/>
    <c:dispBlanksAs val="gap"/>
    <c:showDLblsOverMax val="1"/>
  </c:chart>
  <c:spPr>
    <a:solidFill>
      <a:srgbClr val="FFFFFF"/>
    </a:solidFill>
    <a:ln w="12700">
      <a:solidFill>
        <a:srgbClr val="DDD6EE"/>
      </a:solidFill>
    </a:ln>
  </c:spPr>
  <c:txPr>
    <a:bodyPr/>
    <a:lstStyle/>
    <a:p>
      <a:pPr>
        <a:defRPr sz="1200"/>
      </a:pPr>
      <a:endParaRPr lang="en-US"/>
    </a:p>
  </c:txPr>
  <c:externalData r:id="rId1">
    <c:autoUpdate val="0"/>
  </c:externalData>
</c:chartSpace>
</file>

<file path=ppt/charts/chart1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pPr>
              <a:defRPr sz="1500" b="1"/>
            </a:pPr>
            <a:r>
              <a:rPr lang="en-US" sz="1500" b="1">
                <a:solidFill>
                  <a:srgbClr val="1E293B"/>
                </a:solidFill>
              </a:rPr>
              <a:t>Average Heart Rate by Disorder</a:t>
            </a:r>
          </a:p>
        </c:rich>
      </c:tx>
      <c:overlay val="0"/>
    </c:title>
    <c:autoTitleDeleted val="0"/>
    <c:plotArea>
      <c:layout/>
      <c:barChart>
        <c:barDir val="col"/>
        <c:grouping val="clustered"/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Average Heart Rate (bpm)</c:v>
                </c:pt>
              </c:strCache>
            </c:strRef>
          </c:tx>
          <c:spPr>
            <a:solidFill>
              <a:srgbClr val="D9714A"/>
            </a:solidFill>
            <a:ln>
              <a:solidFill>
                <a:srgbClr val="D9714A"/>
              </a:solidFill>
            </a:ln>
          </c:spPr>
          <c:invertIfNegative val="1"/>
          <c:dLbls>
            <c:numFmt formatCode="0.00" sourceLinked="0"/>
            <c:spPr>
              <a:noFill/>
              <a:ln>
                <a:noFill/>
              </a:ln>
            </c:spPr>
            <c:txPr>
              <a:bodyPr/>
              <a:lstStyle/>
              <a:p>
                <a:pPr>
                  <a:defRPr sz="1400" b="1">
                    <a:solidFill>
                      <a:srgbClr val="1E293B"/>
                    </a:solidFill>
                  </a:defRPr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Sheet1!$A$2:$A$3</c:f>
              <c:strCache>
                <c:ptCount val="2"/>
                <c:pt idx="0">
                  <c:v>Insomnia</c:v>
                </c:pt>
                <c:pt idx="1">
                  <c:v>Sleep Apnea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72.209999999999994</c:v>
                </c:pt>
                <c:pt idx="1">
                  <c:v>74.27</c:v>
                </c:pt>
              </c:numCache>
            </c:numRef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  <a:ln>
                    <a:solidFill>
                      <a:srgbClr val="D9714A"/>
                    </a:solidFill>
                  </a:ln>
                </c14:spPr>
              </c14:invertSolidFillFmt>
            </c:ext>
            <c:ext xmlns:c16="http://schemas.microsoft.com/office/drawing/2014/chart" uri="{C3380CC4-5D6E-409C-BE32-E72D297353CC}">
              <c16:uniqueId val="{00000000-ADF3-4E67-83EB-444726A23DE2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6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numFmt formatCode="General" sourceLinked="0"/>
        <c:majorTickMark val="out"/>
        <c:minorTickMark val="none"/>
        <c:tickLblPos val="nextTo"/>
        <c:txPr>
          <a:bodyPr/>
          <a:lstStyle/>
          <a:p>
            <a:pPr>
              <a:defRPr sz="1100"/>
            </a:pPr>
            <a:endParaRPr lang="en-US"/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orientation val="minMax"/>
          <c:max val="80"/>
          <c:min val="0"/>
        </c:scaling>
        <c:delete val="0"/>
        <c:axPos val="l"/>
        <c:majorGridlines>
          <c:spPr>
            <a:ln w="6350">
              <a:solidFill>
                <a:srgbClr val="D9D4E6"/>
              </a:solidFill>
              <a:prstDash val="dash"/>
            </a:ln>
          </c:spPr>
        </c:majorGridlines>
        <c:title>
          <c:tx>
            <c:rich>
              <a:bodyPr rot="-5400000" vert="horz"/>
              <a:lstStyle/>
              <a:p>
                <a:pPr>
                  <a:defRPr sz="1100" b="1"/>
                </a:pPr>
                <a:r>
                  <a:rPr lang="en-US" sz="1100" b="1">
                    <a:solidFill>
                      <a:srgbClr val="1E293B"/>
                    </a:solidFill>
                  </a:rPr>
                  <a:t>bpm</a:t>
                </a:r>
              </a:p>
            </c:rich>
          </c:tx>
          <c:overlay val="0"/>
        </c:title>
        <c:numFmt formatCode="General" sourceLinked="1"/>
        <c:majorTickMark val="out"/>
        <c:minorTickMark val="none"/>
        <c:tickLblPos val="nextTo"/>
        <c:txPr>
          <a:bodyPr/>
          <a:lstStyle/>
          <a:p>
            <a:pPr>
              <a:defRPr sz="1100"/>
            </a:pPr>
            <a:endParaRPr lang="en-US"/>
          </a:p>
        </c:txPr>
        <c:crossAx val="-2068027336"/>
        <c:crosses val="autoZero"/>
        <c:crossBetween val="between"/>
      </c:valAx>
    </c:plotArea>
    <c:plotVisOnly val="1"/>
    <c:dispBlanksAs val="gap"/>
    <c:showDLblsOverMax val="1"/>
  </c:chart>
  <c:spPr>
    <a:solidFill>
      <a:srgbClr val="FFFFFF"/>
    </a:solidFill>
    <a:ln w="12700">
      <a:solidFill>
        <a:srgbClr val="DDD6EE"/>
      </a:solidFill>
    </a:ln>
  </c:spPr>
  <c:txPr>
    <a:bodyPr/>
    <a:lstStyle/>
    <a:p>
      <a:pPr>
        <a:defRPr sz="1200"/>
      </a:pPr>
      <a:endParaRPr lang="en-US"/>
    </a:p>
  </c:tx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A565CA7-153E-49EC-86CF-4B26FCA25CE5}" type="datetimeFigureOut">
              <a:rPr lang="en-IN" smtClean="0"/>
              <a:t>29-09-2026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22D674A-4182-4330-83D2-C8AEACDAF1D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0224499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22D674A-4182-4330-83D2-C8AEACDAF1D3}" type="slidenum">
              <a:rPr lang="en-IN" smtClean="0"/>
              <a:t>9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7943500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9/29/2026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9/29/2026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Decor 90"/>
          <p:cNvSpPr/>
          <p:nvPr userDrawn="1"/>
        </p:nvSpPr>
        <p:spPr>
          <a:xfrm>
            <a:off x="10300000" y="-900000"/>
            <a:ext cx="2900000" cy="2900000"/>
          </a:xfrm>
          <a:prstGeom prst="ellipse">
            <a:avLst/>
          </a:prstGeom>
          <a:solidFill>
            <a:srgbClr val="C9B8E8">
              <a:alpha val="35000"/>
            </a:srgbClr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91" name="Decor 91"/>
          <p:cNvSpPr/>
          <p:nvPr userDrawn="1"/>
        </p:nvSpPr>
        <p:spPr>
          <a:xfrm>
            <a:off x="-900000" y="5500000"/>
            <a:ext cx="2600000" cy="2600000"/>
          </a:xfrm>
          <a:prstGeom prst="ellipse">
            <a:avLst/>
          </a:prstGeom>
          <a:solidFill>
            <a:srgbClr val="A9D6E5">
              <a:alpha val="35000"/>
            </a:srgbClr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92" name="Decor 92"/>
          <p:cNvSpPr/>
          <p:nvPr userDrawn="1"/>
        </p:nvSpPr>
        <p:spPr>
          <a:xfrm>
            <a:off x="11000000" y="5600000"/>
            <a:ext cx="1300000" cy="1300000"/>
          </a:xfrm>
          <a:prstGeom prst="ellipse">
            <a:avLst/>
          </a:prstGeom>
          <a:solidFill>
            <a:srgbClr val="F6C9A8">
              <a:alpha val="35000"/>
            </a:srgbClr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9/29/2026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9/29/2026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chart" Target="../charts/chart1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chart" Target="../charts/chart2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chart" Target="../charts/chart3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chart" Target="../charts/chart5.xml"/><Relationship Id="rId2" Type="http://schemas.openxmlformats.org/officeDocument/2006/relationships/chart" Target="../charts/chart4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chart" Target="../charts/chart6.xm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chart" Target="../charts/chart7.xml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chart" Target="../charts/chart8.xml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chart" Target="../charts/chart9.xml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chart" Target="../charts/chart10.xml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chart" Target="../charts/chart11.xml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F3EDFB"/>
            </a:gs>
            <a:gs pos="50000">
              <a:srgbClr val="E9F2FA"/>
            </a:gs>
            <a:gs pos="100000">
              <a:srgbClr val="FDEEE4"/>
            </a:gs>
          </a:gsLst>
          <a:lin ang="27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Moon Body"/>
          <p:cNvSpPr/>
          <p:nvPr/>
        </p:nvSpPr>
        <p:spPr>
          <a:xfrm>
            <a:off x="10020700" y="-1035980"/>
            <a:ext cx="3200000" cy="3200000"/>
          </a:xfrm>
          <a:prstGeom prst="ellipse">
            <a:avLst/>
          </a:prstGeom>
          <a:solidFill>
            <a:srgbClr val="E8AA42"/>
          </a:solidFill>
          <a:ln>
            <a:noFill/>
          </a:ln>
        </p:spPr>
        <p:txBody>
          <a:bodyPr/>
          <a:lstStyle/>
          <a:p>
            <a:endParaRPr dirty="0"/>
          </a:p>
        </p:txBody>
      </p:sp>
      <p:sp>
        <p:nvSpPr>
          <p:cNvPr id="21" name="Moon Cutout"/>
          <p:cNvSpPr/>
          <p:nvPr/>
        </p:nvSpPr>
        <p:spPr>
          <a:xfrm>
            <a:off x="9715500" y="-685980"/>
            <a:ext cx="2850000" cy="2850000"/>
          </a:xfrm>
          <a:prstGeom prst="ellipse">
            <a:avLst/>
          </a:prstGeom>
          <a:solidFill>
            <a:srgbClr val="FBF8F3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22" name="Wave Bar 1"/>
          <p:cNvSpPr/>
          <p:nvPr/>
        </p:nvSpPr>
        <p:spPr>
          <a:xfrm>
            <a:off x="8686800" y="3474720"/>
            <a:ext cx="228600" cy="502920"/>
          </a:xfrm>
          <a:prstGeom prst="roundRect">
            <a:avLst>
              <a:gd name="adj" fmla="val 50000"/>
            </a:avLst>
          </a:prstGeom>
          <a:solidFill>
            <a:srgbClr val="D9714A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23" name="Wave Bar 2"/>
          <p:cNvSpPr/>
          <p:nvPr/>
        </p:nvSpPr>
        <p:spPr>
          <a:xfrm>
            <a:off x="8991600" y="3200400"/>
            <a:ext cx="228600" cy="1051560"/>
          </a:xfrm>
          <a:prstGeom prst="roundRect">
            <a:avLst>
              <a:gd name="adj" fmla="val 50000"/>
            </a:avLst>
          </a:prstGeom>
          <a:solidFill>
            <a:srgbClr val="2E86AB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24" name="Wave Bar 3"/>
          <p:cNvSpPr/>
          <p:nvPr/>
        </p:nvSpPr>
        <p:spPr>
          <a:xfrm>
            <a:off x="9296400" y="2971800"/>
            <a:ext cx="228600" cy="1508760"/>
          </a:xfrm>
          <a:prstGeom prst="roundRect">
            <a:avLst>
              <a:gd name="adj" fmla="val 50000"/>
            </a:avLst>
          </a:prstGeom>
          <a:solidFill>
            <a:srgbClr val="E8AA42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25" name="Wave Bar 4"/>
          <p:cNvSpPr/>
          <p:nvPr/>
        </p:nvSpPr>
        <p:spPr>
          <a:xfrm>
            <a:off x="9601200" y="3345180"/>
            <a:ext cx="228600" cy="731520"/>
          </a:xfrm>
          <a:prstGeom prst="roundRect">
            <a:avLst>
              <a:gd name="adj" fmla="val 50000"/>
            </a:avLst>
          </a:prstGeom>
          <a:solidFill>
            <a:srgbClr val="2E86AB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26" name="Wave Bar 5"/>
          <p:cNvSpPr/>
          <p:nvPr/>
        </p:nvSpPr>
        <p:spPr>
          <a:xfrm>
            <a:off x="9906000" y="3611880"/>
            <a:ext cx="228600" cy="365760"/>
          </a:xfrm>
          <a:prstGeom prst="roundRect">
            <a:avLst>
              <a:gd name="adj" fmla="val 50000"/>
            </a:avLst>
          </a:prstGeom>
          <a:solidFill>
            <a:srgbClr val="D9714A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27" name="Kicker Pill"/>
          <p:cNvSpPr/>
          <p:nvPr/>
        </p:nvSpPr>
        <p:spPr>
          <a:xfrm>
            <a:off x="685800" y="822960"/>
            <a:ext cx="3474720" cy="420480"/>
          </a:xfrm>
          <a:prstGeom prst="roundRect">
            <a:avLst>
              <a:gd name="adj" fmla="val 50000"/>
            </a:avLst>
          </a:prstGeom>
          <a:solidFill>
            <a:srgbClr val="D9714A"/>
          </a:solidFill>
          <a:ln>
            <a:noFill/>
          </a:ln>
        </p:spPr>
        <p:txBody>
          <a:bodyPr wrap="square" lIns="137160" rIns="137160" anchor="ctr"/>
          <a:lstStyle/>
          <a:p>
            <a:pPr algn="ctr"/>
            <a:r>
              <a:rPr sz="1400" b="1">
                <a:solidFill>
                  <a:srgbClr val="FBF8F3"/>
                </a:solidFill>
                <a:latin typeface="Calibri"/>
              </a:rPr>
              <a:t>SLEEP HEALTH ANALYSIS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1440180"/>
            <a:ext cx="539496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500" b="1" dirty="0">
                <a:solidFill>
                  <a:srgbClr val="64748B"/>
                </a:solidFill>
                <a:latin typeface="Calibri"/>
              </a:rPr>
              <a:t>DECODING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94360" y="1943100"/>
            <a:ext cx="10881360" cy="769441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4400" b="1" dirty="0">
                <a:solidFill>
                  <a:srgbClr val="1E293B"/>
                </a:solidFill>
                <a:latin typeface="Calibri"/>
              </a:rPr>
              <a:t>SLEEP</a:t>
            </a:r>
            <a:r>
              <a:rPr lang="en-US" sz="4400" b="1" dirty="0">
                <a:solidFill>
                  <a:srgbClr val="1E293B"/>
                </a:solidFill>
                <a:latin typeface="Calibri"/>
              </a:rPr>
              <a:t> HEALTH </a:t>
            </a:r>
            <a:endParaRPr sz="4400" b="1" dirty="0">
              <a:solidFill>
                <a:srgbClr val="1E293B"/>
              </a:solidFill>
              <a:latin typeface="Calibri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580177" y="3145125"/>
            <a:ext cx="7677415" cy="40011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lang="en-US" sz="2000" i="1" dirty="0">
                <a:solidFill>
                  <a:srgbClr val="64748B"/>
                </a:solidFill>
                <a:latin typeface="Calibri"/>
              </a:rPr>
              <a:t>An Exploratory Data Analysis of </a:t>
            </a:r>
            <a:r>
              <a:rPr sz="2000" i="1" dirty="0">
                <a:solidFill>
                  <a:srgbClr val="64748B"/>
                </a:solidFill>
                <a:latin typeface="Calibri"/>
              </a:rPr>
              <a:t>Sleep </a:t>
            </a:r>
            <a:r>
              <a:rPr lang="en-US" sz="2000" i="1" dirty="0">
                <a:solidFill>
                  <a:srgbClr val="64748B"/>
                </a:solidFill>
                <a:latin typeface="Calibri"/>
              </a:rPr>
              <a:t>Health </a:t>
            </a:r>
            <a:r>
              <a:rPr sz="2000" i="1" dirty="0">
                <a:solidFill>
                  <a:srgbClr val="64748B"/>
                </a:solidFill>
                <a:latin typeface="Calibri"/>
              </a:rPr>
              <a:t>&amp; </a:t>
            </a:r>
            <a:r>
              <a:rPr lang="en-US" sz="2000" i="1" dirty="0">
                <a:solidFill>
                  <a:srgbClr val="64748B"/>
                </a:solidFill>
                <a:latin typeface="Calibri"/>
              </a:rPr>
              <a:t>Sleep Disorder Factors</a:t>
            </a:r>
            <a:endParaRPr sz="2000" i="1" dirty="0">
              <a:solidFill>
                <a:srgbClr val="64748B"/>
              </a:solidFill>
              <a:latin typeface="Calibri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580177" y="4962555"/>
            <a:ext cx="1828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 dirty="0">
                <a:solidFill>
                  <a:srgbClr val="D9714A"/>
                </a:solidFill>
                <a:latin typeface="Calibri"/>
              </a:rPr>
              <a:t>PRESENTED BY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80177" y="5236875"/>
            <a:ext cx="10607040" cy="33855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lang="en-US" sz="1600" dirty="0">
                <a:solidFill>
                  <a:srgbClr val="1E293B"/>
                </a:solidFill>
              </a:rPr>
              <a:t>Ganesh Singh</a:t>
            </a:r>
            <a:endParaRPr sz="1600" b="0" dirty="0">
              <a:solidFill>
                <a:srgbClr val="1E293B"/>
              </a:solidFill>
              <a:latin typeface="Calibri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685800" y="6263640"/>
            <a:ext cx="4572000" cy="2923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 dirty="0">
                <a:solidFill>
                  <a:srgbClr val="64748B"/>
                </a:solidFill>
                <a:latin typeface="Calibri"/>
              </a:rPr>
              <a:t>2026  |  Data Science </a:t>
            </a:r>
            <a:r>
              <a:rPr lang="en-US" sz="1300" b="0" dirty="0">
                <a:solidFill>
                  <a:srgbClr val="64748B"/>
                </a:solidFill>
                <a:latin typeface="Calibri"/>
              </a:rPr>
              <a:t>Python </a:t>
            </a:r>
            <a:r>
              <a:rPr sz="1300" b="0" dirty="0">
                <a:solidFill>
                  <a:srgbClr val="64748B"/>
                </a:solidFill>
                <a:latin typeface="Calibri"/>
              </a:rPr>
              <a:t>Project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F3EDFB"/>
            </a:gs>
            <a:gs pos="50000">
              <a:srgbClr val="E9F2FA"/>
            </a:gs>
            <a:gs pos="100000">
              <a:srgbClr val="FDEEE4"/>
            </a:gs>
          </a:gsLst>
          <a:lin ang="27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731520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6D2E4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UNDERSTANDING THE DATA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85800"/>
            <a:ext cx="914400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2B1B21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The Dataset at a Glance</a:t>
            </a:r>
            <a:endParaRPr lang="en-US" sz="3200" dirty="0"/>
          </a:p>
        </p:txBody>
      </p:sp>
      <p:sp>
        <p:nvSpPr>
          <p:cNvPr id="5" name="Text 3"/>
          <p:cNvSpPr txBox="1"/>
          <p:nvPr/>
        </p:nvSpPr>
        <p:spPr>
          <a:xfrm>
            <a:off x="384048" y="1505588"/>
            <a:ext cx="2606040" cy="6400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3400" dirty="0"/>
          </a:p>
        </p:txBody>
      </p:sp>
      <p:sp>
        <p:nvSpPr>
          <p:cNvPr id="6" name="Text 4"/>
          <p:cNvSpPr txBox="1"/>
          <p:nvPr/>
        </p:nvSpPr>
        <p:spPr>
          <a:xfrm>
            <a:off x="1687068" y="5737759"/>
            <a:ext cx="260604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0D9D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Individuals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3383280" y="1508760"/>
            <a:ext cx="2606040" cy="1234440"/>
          </a:xfrm>
          <a:prstGeom prst="roundRect">
            <a:avLst>
              <a:gd name="adj" fmla="val 5926"/>
            </a:avLst>
          </a:prstGeom>
          <a:solidFill>
            <a:srgbClr val="ECE2D0"/>
          </a:solidFill>
        </p:spPr>
      </p:sp>
      <p:sp>
        <p:nvSpPr>
          <p:cNvPr id="8" name="Text 6"/>
          <p:cNvSpPr txBox="1"/>
          <p:nvPr/>
        </p:nvSpPr>
        <p:spPr>
          <a:xfrm>
            <a:off x="3383280" y="1618488"/>
            <a:ext cx="2606040" cy="6400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6D2E46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13</a:t>
            </a:r>
            <a:endParaRPr lang="en-US" sz="3400" dirty="0"/>
          </a:p>
        </p:txBody>
      </p:sp>
      <p:sp>
        <p:nvSpPr>
          <p:cNvPr id="9" name="Text 7"/>
          <p:cNvSpPr txBox="1"/>
          <p:nvPr/>
        </p:nvSpPr>
        <p:spPr>
          <a:xfrm>
            <a:off x="3383280" y="2313432"/>
            <a:ext cx="260604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2B1B2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Variables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217920" y="1508760"/>
            <a:ext cx="2606040" cy="1234440"/>
          </a:xfrm>
          <a:prstGeom prst="roundRect">
            <a:avLst>
              <a:gd name="adj" fmla="val 5926"/>
            </a:avLst>
          </a:prstGeom>
          <a:solidFill>
            <a:srgbClr val="ECE2D0"/>
          </a:solidFill>
        </p:spPr>
      </p:sp>
      <p:sp>
        <p:nvSpPr>
          <p:cNvPr id="11" name="Text 9"/>
          <p:cNvSpPr txBox="1"/>
          <p:nvPr/>
        </p:nvSpPr>
        <p:spPr>
          <a:xfrm>
            <a:off x="6217920" y="1618488"/>
            <a:ext cx="2606040" cy="6400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6D2E46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11</a:t>
            </a:r>
            <a:endParaRPr lang="en-US" sz="3400" dirty="0"/>
          </a:p>
        </p:txBody>
      </p:sp>
      <p:sp>
        <p:nvSpPr>
          <p:cNvPr id="12" name="Text 10"/>
          <p:cNvSpPr txBox="1"/>
          <p:nvPr/>
        </p:nvSpPr>
        <p:spPr>
          <a:xfrm>
            <a:off x="6217920" y="2313432"/>
            <a:ext cx="260604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2B1B2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Occupations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9052560" y="1508760"/>
            <a:ext cx="2606040" cy="1234440"/>
          </a:xfrm>
          <a:prstGeom prst="roundRect">
            <a:avLst>
              <a:gd name="adj" fmla="val 5926"/>
            </a:avLst>
          </a:prstGeom>
          <a:solidFill>
            <a:srgbClr val="ECE2D0"/>
          </a:solidFill>
        </p:spPr>
      </p:sp>
      <p:sp>
        <p:nvSpPr>
          <p:cNvPr id="14" name="Text 12"/>
          <p:cNvSpPr txBox="1"/>
          <p:nvPr/>
        </p:nvSpPr>
        <p:spPr>
          <a:xfrm>
            <a:off x="9052560" y="1618488"/>
            <a:ext cx="2606040" cy="6400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6D2E46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3</a:t>
            </a:r>
            <a:endParaRPr lang="en-US" sz="3400" dirty="0"/>
          </a:p>
        </p:txBody>
      </p:sp>
      <p:sp>
        <p:nvSpPr>
          <p:cNvPr id="15" name="Text 13"/>
          <p:cNvSpPr txBox="1"/>
          <p:nvPr/>
        </p:nvSpPr>
        <p:spPr>
          <a:xfrm>
            <a:off x="9052560" y="2313432"/>
            <a:ext cx="260604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2B1B2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Sleep Disorder Classes</a:t>
            </a:r>
            <a:endParaRPr lang="en-US" sz="1400" dirty="0"/>
          </a:p>
        </p:txBody>
      </p:sp>
      <p:sp>
        <p:nvSpPr>
          <p:cNvPr id="16" name="Text 14"/>
          <p:cNvSpPr txBox="1"/>
          <p:nvPr/>
        </p:nvSpPr>
        <p:spPr>
          <a:xfrm>
            <a:off x="548640" y="3063240"/>
            <a:ext cx="548640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2B1B21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Variables Captured</a:t>
            </a:r>
            <a:endParaRPr lang="en-US" sz="1800" dirty="0"/>
          </a:p>
        </p:txBody>
      </p:sp>
      <p:sp>
        <p:nvSpPr>
          <p:cNvPr id="17" name="Shape 15"/>
          <p:cNvSpPr/>
          <p:nvPr/>
        </p:nvSpPr>
        <p:spPr>
          <a:xfrm>
            <a:off x="548640" y="352044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7F3EE"/>
          </a:solidFill>
          <a:ln w="12700">
            <a:solidFill>
              <a:srgbClr val="E3D6CC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731520" y="3703320"/>
            <a:ext cx="411480" cy="411480"/>
          </a:xfrm>
          <a:prstGeom prst="ellipse">
            <a:avLst/>
          </a:prstGeom>
          <a:solidFill>
            <a:srgbClr val="6D2E46"/>
          </a:solidFill>
        </p:spPr>
      </p:sp>
      <p:sp>
        <p:nvSpPr>
          <p:cNvPr id="19" name="Text 17"/>
          <p:cNvSpPr txBox="1"/>
          <p:nvPr/>
        </p:nvSpPr>
        <p:spPr>
          <a:xfrm>
            <a:off x="749935" y="4178808"/>
            <a:ext cx="2606040" cy="292608"/>
          </a:xfrm>
          <a:prstGeom prst="rect">
            <a:avLst/>
          </a:prstGeom>
          <a:noFill/>
        </p:spPr>
        <p:txBody>
          <a:bodyPr wrap="square" lIns="0" tIns="2794" rIns="0" bIns="0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2B1B2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Demographics</a:t>
            </a:r>
            <a:endParaRPr lang="en-US" sz="1400" dirty="0"/>
          </a:p>
        </p:txBody>
      </p:sp>
      <p:sp>
        <p:nvSpPr>
          <p:cNvPr id="20" name="Text 18"/>
          <p:cNvSpPr txBox="1"/>
          <p:nvPr/>
        </p:nvSpPr>
        <p:spPr>
          <a:xfrm>
            <a:off x="749808" y="4453128"/>
            <a:ext cx="2240280" cy="43891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6B5A6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Gender, Age, Occupation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3383280" y="352044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7F3EE"/>
          </a:solidFill>
          <a:ln w="12700">
            <a:solidFill>
              <a:srgbClr val="E3D6CC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3566160" y="3703320"/>
            <a:ext cx="411480" cy="411480"/>
          </a:xfrm>
          <a:prstGeom prst="ellipse">
            <a:avLst/>
          </a:prstGeom>
          <a:solidFill>
            <a:srgbClr val="A26769"/>
          </a:solidFill>
        </p:spPr>
      </p:sp>
      <p:sp>
        <p:nvSpPr>
          <p:cNvPr id="23" name="Text 21"/>
          <p:cNvSpPr txBox="1"/>
          <p:nvPr/>
        </p:nvSpPr>
        <p:spPr>
          <a:xfrm>
            <a:off x="3569335" y="4178808"/>
            <a:ext cx="2606040" cy="292608"/>
          </a:xfrm>
          <a:prstGeom prst="rect">
            <a:avLst/>
          </a:prstGeom>
          <a:noFill/>
        </p:spPr>
        <p:txBody>
          <a:bodyPr wrap="square" lIns="0" tIns="2794" rIns="0" bIns="0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2B1B2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Sleep Metrics</a:t>
            </a:r>
            <a:endParaRPr lang="en-US" sz="1400" dirty="0"/>
          </a:p>
        </p:txBody>
      </p:sp>
      <p:sp>
        <p:nvSpPr>
          <p:cNvPr id="24" name="Text 22"/>
          <p:cNvSpPr txBox="1"/>
          <p:nvPr/>
        </p:nvSpPr>
        <p:spPr>
          <a:xfrm>
            <a:off x="3584448" y="4453128"/>
            <a:ext cx="2240280" cy="43891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6B5A6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Sleep Duration, Quality of Sleep, Sleep Disorder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6217920" y="352044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7F3EE"/>
          </a:solidFill>
          <a:ln w="12700">
            <a:solidFill>
              <a:srgbClr val="E3D6CC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6400800" y="3703320"/>
            <a:ext cx="411480" cy="411480"/>
          </a:xfrm>
          <a:prstGeom prst="ellipse">
            <a:avLst/>
          </a:prstGeom>
          <a:solidFill>
            <a:srgbClr val="6D2E46"/>
          </a:solidFill>
        </p:spPr>
      </p:sp>
      <p:sp>
        <p:nvSpPr>
          <p:cNvPr id="27" name="Text 25"/>
          <p:cNvSpPr txBox="1"/>
          <p:nvPr/>
        </p:nvSpPr>
        <p:spPr>
          <a:xfrm>
            <a:off x="6411595" y="4178808"/>
            <a:ext cx="2606040" cy="292608"/>
          </a:xfrm>
          <a:prstGeom prst="rect">
            <a:avLst/>
          </a:prstGeom>
          <a:noFill/>
        </p:spPr>
        <p:txBody>
          <a:bodyPr wrap="square" lIns="0" tIns="2794" rIns="0" bIns="0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2B1B2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Lifestyle</a:t>
            </a:r>
            <a:endParaRPr lang="en-US" sz="1300" dirty="0"/>
          </a:p>
        </p:txBody>
      </p:sp>
      <p:sp>
        <p:nvSpPr>
          <p:cNvPr id="28" name="Text 26"/>
          <p:cNvSpPr txBox="1"/>
          <p:nvPr/>
        </p:nvSpPr>
        <p:spPr>
          <a:xfrm>
            <a:off x="6419088" y="4453128"/>
            <a:ext cx="2240280" cy="43891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6B5A6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Physical Activity, Stress Level, Daily Steps, BMI Category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9052560" y="352044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7F3EE"/>
          </a:solidFill>
          <a:ln w="12700">
            <a:solidFill>
              <a:srgbClr val="E3D6CC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9235440" y="3703320"/>
            <a:ext cx="411480" cy="411480"/>
          </a:xfrm>
          <a:prstGeom prst="ellipse">
            <a:avLst/>
          </a:prstGeom>
          <a:solidFill>
            <a:srgbClr val="A26769"/>
          </a:solidFill>
        </p:spPr>
      </p:sp>
      <p:sp>
        <p:nvSpPr>
          <p:cNvPr id="31" name="Text 29"/>
          <p:cNvSpPr txBox="1"/>
          <p:nvPr/>
        </p:nvSpPr>
        <p:spPr>
          <a:xfrm>
            <a:off x="9253855" y="4178808"/>
            <a:ext cx="2606040" cy="292608"/>
          </a:xfrm>
          <a:prstGeom prst="rect">
            <a:avLst/>
          </a:prstGeom>
          <a:noFill/>
        </p:spPr>
        <p:txBody>
          <a:bodyPr wrap="square" lIns="0" tIns="2794" rIns="0" bIns="0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2B1B2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Vitals</a:t>
            </a:r>
            <a:endParaRPr lang="en-US" sz="1300" dirty="0"/>
          </a:p>
        </p:txBody>
      </p:sp>
      <p:sp>
        <p:nvSpPr>
          <p:cNvPr id="32" name="Text 30"/>
          <p:cNvSpPr txBox="1"/>
          <p:nvPr/>
        </p:nvSpPr>
        <p:spPr>
          <a:xfrm>
            <a:off x="9253728" y="4453128"/>
            <a:ext cx="2240280" cy="43891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6B5A6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Blood Pressure, Heart Rate</a:t>
            </a:r>
            <a:endParaRPr lang="en-US" sz="950" dirty="0"/>
          </a:p>
        </p:txBody>
      </p:sp>
      <p:sp>
        <p:nvSpPr>
          <p:cNvPr id="33" name="Text 31"/>
          <p:cNvSpPr txBox="1"/>
          <p:nvPr/>
        </p:nvSpPr>
        <p:spPr>
          <a:xfrm>
            <a:off x="11430000" y="6355080"/>
            <a:ext cx="54864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A26769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01</a:t>
            </a:r>
            <a:endParaRPr lang="en-US" sz="1100" dirty="0"/>
          </a:p>
        </p:txBody>
      </p:sp>
      <p:sp>
        <p:nvSpPr>
          <p:cNvPr id="34" name="Text 32"/>
          <p:cNvSpPr txBox="1"/>
          <p:nvPr/>
        </p:nvSpPr>
        <p:spPr>
          <a:xfrm>
            <a:off x="548640" y="6355080"/>
            <a:ext cx="548640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A7B8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SLEEP HEALTH &amp; SLEEP DISORDERS — EDA</a:t>
            </a:r>
            <a:endParaRPr lang="en-US" sz="900" dirty="0"/>
          </a:p>
        </p:txBody>
      </p:sp>
      <p:pic>
        <p:nvPicPr>
          <p:cNvPr id="36" name="Image 0" descr="/home/claude/icons/user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0138" y="3731463"/>
            <a:ext cx="332842" cy="332842"/>
          </a:xfrm>
          <a:prstGeom prst="rect">
            <a:avLst/>
          </a:prstGeom>
        </p:spPr>
      </p:pic>
      <p:pic>
        <p:nvPicPr>
          <p:cNvPr id="44" name="Image 1" descr="/home/claude/icons/moo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84778" y="3749243"/>
            <a:ext cx="332842" cy="332842"/>
          </a:xfrm>
          <a:prstGeom prst="rect">
            <a:avLst/>
          </a:prstGeom>
        </p:spPr>
      </p:pic>
      <p:pic>
        <p:nvPicPr>
          <p:cNvPr id="45" name="Image 2" descr="/home/claude/icons/running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61328" y="3739083"/>
            <a:ext cx="332842" cy="332842"/>
          </a:xfrm>
          <a:prstGeom prst="rect">
            <a:avLst/>
          </a:prstGeom>
        </p:spPr>
      </p:pic>
      <p:pic>
        <p:nvPicPr>
          <p:cNvPr id="46" name="Image 3" descr="/home/claude/icons/heartbeat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277553" y="3765118"/>
            <a:ext cx="332842" cy="332842"/>
          </a:xfrm>
          <a:prstGeom prst="rect">
            <a:avLst/>
          </a:prstGeom>
        </p:spPr>
      </p:pic>
      <p:sp>
        <p:nvSpPr>
          <p:cNvPr id="42" name="Shape 5"/>
          <p:cNvSpPr/>
          <p:nvPr/>
        </p:nvSpPr>
        <p:spPr>
          <a:xfrm>
            <a:off x="580644" y="1504289"/>
            <a:ext cx="2606040" cy="1234440"/>
          </a:xfrm>
          <a:prstGeom prst="roundRect">
            <a:avLst>
              <a:gd name="adj" fmla="val 5926"/>
            </a:avLst>
          </a:prstGeom>
          <a:solidFill>
            <a:srgbClr val="ECE2D0"/>
          </a:solidFill>
        </p:spPr>
      </p:sp>
      <p:sp>
        <p:nvSpPr>
          <p:cNvPr id="43" name="Text 6"/>
          <p:cNvSpPr txBox="1"/>
          <p:nvPr/>
        </p:nvSpPr>
        <p:spPr>
          <a:xfrm>
            <a:off x="580644" y="1614017"/>
            <a:ext cx="2606040" cy="6400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6D2E46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374</a:t>
            </a:r>
            <a:endParaRPr lang="en-US" sz="3400" dirty="0"/>
          </a:p>
        </p:txBody>
      </p:sp>
      <p:sp>
        <p:nvSpPr>
          <p:cNvPr id="47" name="Text 7"/>
          <p:cNvSpPr txBox="1"/>
          <p:nvPr/>
        </p:nvSpPr>
        <p:spPr>
          <a:xfrm>
            <a:off x="580644" y="2308961"/>
            <a:ext cx="260604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/>
              <a:t>Individual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F3EDFB"/>
            </a:gs>
            <a:gs pos="50000">
              <a:srgbClr val="E9F2FA"/>
            </a:gs>
            <a:gs pos="100000">
              <a:srgbClr val="FDEEE4"/>
            </a:gs>
          </a:gsLst>
          <a:lin ang="27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47472"/>
            <a:ext cx="109728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700" b="1">
                <a:solidFill>
                  <a:srgbClr val="1E293B"/>
                </a:solidFill>
                <a:latin typeface="Calibri"/>
              </a:rPr>
              <a:t>The Dataset Challenge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868680"/>
            <a:ext cx="10789920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64748B"/>
                </a:solidFill>
                <a:latin typeface="Calibri"/>
              </a:rPr>
              <a:t>Three cleaning problems changed the reliability of the analysis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201400" y="6473952"/>
            <a:ext cx="45720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1">
                <a:solidFill>
                  <a:srgbClr val="64748B"/>
                </a:solidFill>
                <a:latin typeface="Calibri"/>
              </a:rPr>
              <a:t>06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371600"/>
            <a:ext cx="3474720" cy="3474720"/>
          </a:xfrm>
          <a:prstGeom prst="roundRect">
            <a:avLst/>
          </a:prstGeom>
          <a:solidFill>
            <a:srgbClr val="FBE3D3"/>
          </a:solidFill>
          <a:ln w="19050">
            <a:solidFill>
              <a:srgbClr val="D971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841247" y="1536192"/>
            <a:ext cx="3072384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>
                <a:solidFill>
                  <a:srgbClr val="D9714A"/>
                </a:solidFill>
                <a:latin typeface="Calibri"/>
              </a:rPr>
              <a:t>01  DUPLICATES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41247" y="1938528"/>
            <a:ext cx="3072384" cy="35844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0">
                <a:solidFill>
                  <a:srgbClr val="1E293B"/>
                </a:solidFill>
                <a:latin typeface="Calibri"/>
              </a:rPr>
              <a:t>374 raw rows contained 242 repeated records after duplicate checking.
Action: remove repeated health records so they do not overweight the results.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43400" y="1371600"/>
            <a:ext cx="3474720" cy="3474720"/>
          </a:xfrm>
          <a:prstGeom prst="roundRect">
            <a:avLst/>
          </a:prstGeom>
          <a:solidFill>
            <a:srgbClr val="DCEEF5"/>
          </a:solidFill>
          <a:ln w="19050">
            <a:solidFill>
              <a:srgbClr val="2E86A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4544568" y="1536192"/>
            <a:ext cx="3072384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>
                <a:solidFill>
                  <a:srgbClr val="2E86AB"/>
                </a:solidFill>
                <a:latin typeface="Calibri"/>
              </a:rPr>
              <a:t>02  LABELS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44568" y="1938528"/>
            <a:ext cx="3072384" cy="35844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0">
                <a:solidFill>
                  <a:srgbClr val="1E293B"/>
                </a:solidFill>
                <a:latin typeface="Calibri"/>
              </a:rPr>
              <a:t>Examples:
• Normal Weight → Normal
• Sales Representative → Salesperson
Action: standardize category names before grouping.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046720" y="1371600"/>
            <a:ext cx="3474720" cy="3474720"/>
          </a:xfrm>
          <a:prstGeom prst="roundRect">
            <a:avLst/>
          </a:prstGeom>
          <a:solidFill>
            <a:srgbClr val="FBEFD3"/>
          </a:solidFill>
          <a:ln w="19050">
            <a:solidFill>
              <a:srgbClr val="E8AA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8247888" y="1536192"/>
            <a:ext cx="3072384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>
                <a:solidFill>
                  <a:srgbClr val="E8AA42"/>
                </a:solidFill>
                <a:latin typeface="Calibri"/>
              </a:rPr>
              <a:t>03  TEXT METRIC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47888" y="1938528"/>
            <a:ext cx="3072384" cy="35844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0">
                <a:solidFill>
                  <a:srgbClr val="1E293B"/>
                </a:solidFill>
                <a:latin typeface="Calibri"/>
              </a:rPr>
              <a:t>Blood Pressure appeared as text such as “120/80”.
Action: split it into Higher_BP and Lower_BP numeric columns for calculations.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F3EDFB"/>
            </a:gs>
            <a:gs pos="50000">
              <a:srgbClr val="E9F2FA"/>
            </a:gs>
            <a:gs pos="100000">
              <a:srgbClr val="FDEEE4"/>
            </a:gs>
          </a:gsLst>
          <a:lin ang="27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731520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6D2E4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DATA PREPARATION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85800"/>
            <a:ext cx="914400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2B1B21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From Noise to Signal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188720"/>
            <a:ext cx="960120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B5A6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Cleaning reduces repetition and focuses the comparison that matters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48640" y="1783080"/>
            <a:ext cx="8922715" cy="1115568"/>
          </a:xfrm>
          <a:prstGeom prst="roundRect">
            <a:avLst>
              <a:gd name="adj" fmla="val 8197"/>
            </a:avLst>
          </a:prstGeom>
          <a:solidFill>
            <a:srgbClr val="7E3F58"/>
          </a:solidFill>
          <a:effectLst>
            <a:outerShdw blurRad="101600" dist="38100" dir="5400000" algn="bl" rotWithShape="0">
              <a:srgbClr val="000000">
                <a:alpha val="35000"/>
              </a:srgbClr>
            </a:outerShdw>
          </a:effectLst>
        </p:spPr>
      </p:sp>
      <p:sp>
        <p:nvSpPr>
          <p:cNvPr id="6" name="Text 4"/>
          <p:cNvSpPr txBox="1"/>
          <p:nvPr/>
        </p:nvSpPr>
        <p:spPr>
          <a:xfrm>
            <a:off x="822960" y="1783080"/>
            <a:ext cx="1554480" cy="11155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400" b="1" dirty="0">
                <a:solidFill>
                  <a:srgbClr val="FFFFFF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374</a:t>
            </a:r>
            <a:endParaRPr lang="en-US" sz="3400" dirty="0"/>
          </a:p>
        </p:txBody>
      </p:sp>
      <p:sp>
        <p:nvSpPr>
          <p:cNvPr id="7" name="Shape 5"/>
          <p:cNvSpPr/>
          <p:nvPr/>
        </p:nvSpPr>
        <p:spPr>
          <a:xfrm>
            <a:off x="8812987" y="2103120"/>
            <a:ext cx="475488" cy="475488"/>
          </a:xfrm>
          <a:prstGeom prst="ellipse">
            <a:avLst/>
          </a:prstGeom>
          <a:solidFill>
            <a:srgbClr val="FFFFFF"/>
          </a:solidFill>
        </p:spPr>
      </p:sp>
      <p:sp>
        <p:nvSpPr>
          <p:cNvPr id="8" name="Text 6"/>
          <p:cNvSpPr txBox="1"/>
          <p:nvPr/>
        </p:nvSpPr>
        <p:spPr>
          <a:xfrm>
            <a:off x="8812987" y="2103120"/>
            <a:ext cx="475488" cy="47548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6D2E4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✓</a:t>
            </a:r>
            <a:endParaRPr lang="en-US" sz="2000" dirty="0"/>
          </a:p>
        </p:txBody>
      </p:sp>
      <p:sp>
        <p:nvSpPr>
          <p:cNvPr id="9" name="Text 7"/>
          <p:cNvSpPr txBox="1"/>
          <p:nvPr/>
        </p:nvSpPr>
        <p:spPr>
          <a:xfrm>
            <a:off x="2514600" y="1911096"/>
            <a:ext cx="6133795" cy="36576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Raw rows collected</a:t>
            </a:r>
            <a:endParaRPr lang="en-US" sz="1300" dirty="0"/>
          </a:p>
        </p:txBody>
      </p:sp>
      <p:sp>
        <p:nvSpPr>
          <p:cNvPr id="10" name="Text 8"/>
          <p:cNvSpPr txBox="1"/>
          <p:nvPr/>
        </p:nvSpPr>
        <p:spPr>
          <a:xfrm>
            <a:off x="2514600" y="2286000"/>
            <a:ext cx="6133795" cy="27432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i="1" dirty="0">
                <a:solidFill>
                  <a:srgbClr val="E7C7D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242 repeated records removed</a:t>
            </a:r>
            <a:endParaRPr lang="en-US" sz="950" dirty="0"/>
          </a:p>
        </p:txBody>
      </p:sp>
      <p:sp>
        <p:nvSpPr>
          <p:cNvPr id="11" name="Text 9"/>
          <p:cNvSpPr txBox="1"/>
          <p:nvPr/>
        </p:nvSpPr>
        <p:spPr>
          <a:xfrm>
            <a:off x="9791395" y="1783080"/>
            <a:ext cx="1638605" cy="11155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B5A6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Duplicate health entries excluded so no single patient overweights results.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548640" y="3154680"/>
            <a:ext cx="6528816" cy="1115568"/>
          </a:xfrm>
          <a:prstGeom prst="roundRect">
            <a:avLst>
              <a:gd name="adj" fmla="val 8197"/>
            </a:avLst>
          </a:prstGeom>
          <a:solidFill>
            <a:srgbClr val="A26769"/>
          </a:solidFill>
          <a:effectLst>
            <a:outerShdw blurRad="101600" dist="38100" dir="5400000" algn="bl" rotWithShape="0">
              <a:srgbClr val="000000">
                <a:alpha val="35000"/>
              </a:srgbClr>
            </a:outerShdw>
          </a:effectLst>
        </p:spPr>
      </p:sp>
      <p:sp>
        <p:nvSpPr>
          <p:cNvPr id="13" name="Text 11"/>
          <p:cNvSpPr txBox="1"/>
          <p:nvPr/>
        </p:nvSpPr>
        <p:spPr>
          <a:xfrm>
            <a:off x="822960" y="3154680"/>
            <a:ext cx="1554480" cy="11155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400" b="1" dirty="0">
                <a:solidFill>
                  <a:srgbClr val="FFFFFF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132</a:t>
            </a:r>
            <a:endParaRPr lang="en-US" sz="3400" dirty="0"/>
          </a:p>
        </p:txBody>
      </p:sp>
      <p:sp>
        <p:nvSpPr>
          <p:cNvPr id="14" name="Shape 12"/>
          <p:cNvSpPr/>
          <p:nvPr/>
        </p:nvSpPr>
        <p:spPr>
          <a:xfrm>
            <a:off x="6419088" y="3474720"/>
            <a:ext cx="475488" cy="475488"/>
          </a:xfrm>
          <a:prstGeom prst="ellipse">
            <a:avLst/>
          </a:prstGeom>
          <a:solidFill>
            <a:srgbClr val="FFFFFF"/>
          </a:solidFill>
        </p:spPr>
      </p:sp>
      <p:sp>
        <p:nvSpPr>
          <p:cNvPr id="15" name="Text 13"/>
          <p:cNvSpPr txBox="1"/>
          <p:nvPr/>
        </p:nvSpPr>
        <p:spPr>
          <a:xfrm>
            <a:off x="6419088" y="3474720"/>
            <a:ext cx="475488" cy="47548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6D2E4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✓</a:t>
            </a:r>
            <a:endParaRPr lang="en-US" sz="2000" dirty="0"/>
          </a:p>
        </p:txBody>
      </p:sp>
      <p:sp>
        <p:nvSpPr>
          <p:cNvPr id="16" name="Text 14"/>
          <p:cNvSpPr txBox="1"/>
          <p:nvPr/>
        </p:nvSpPr>
        <p:spPr>
          <a:xfrm>
            <a:off x="2514600" y="3282696"/>
            <a:ext cx="3739896" cy="36576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Unique records after de-duplication</a:t>
            </a:r>
            <a:endParaRPr lang="en-US" sz="1300" dirty="0"/>
          </a:p>
        </p:txBody>
      </p:sp>
      <p:sp>
        <p:nvSpPr>
          <p:cNvPr id="17" name="Text 15"/>
          <p:cNvSpPr txBox="1"/>
          <p:nvPr/>
        </p:nvSpPr>
        <p:spPr>
          <a:xfrm>
            <a:off x="2514600" y="3657600"/>
            <a:ext cx="3739896" cy="27432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i="1" dirty="0">
                <a:solidFill>
                  <a:srgbClr val="E7C7D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“None” records set aside</a:t>
            </a:r>
            <a:endParaRPr lang="en-US" sz="950" dirty="0"/>
          </a:p>
        </p:txBody>
      </p:sp>
      <p:sp>
        <p:nvSpPr>
          <p:cNvPr id="18" name="Text 16"/>
          <p:cNvSpPr txBox="1"/>
          <p:nvPr/>
        </p:nvSpPr>
        <p:spPr>
          <a:xfrm>
            <a:off x="7397496" y="3154680"/>
            <a:ext cx="4032504" cy="11155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B5A6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Healthy (no-disorder) records excluded from the direct disorder comparison.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548640" y="4526280"/>
            <a:ext cx="4352544" cy="1115568"/>
          </a:xfrm>
          <a:prstGeom prst="roundRect">
            <a:avLst>
              <a:gd name="adj" fmla="val 8197"/>
            </a:avLst>
          </a:prstGeom>
          <a:solidFill>
            <a:srgbClr val="ECE2D0"/>
          </a:solidFill>
          <a:effectLst>
            <a:outerShdw blurRad="101600" dist="38100" dir="5400000" algn="bl" rotWithShape="0">
              <a:srgbClr val="000000">
                <a:alpha val="35000"/>
              </a:srgbClr>
            </a:outerShdw>
          </a:effectLst>
        </p:spPr>
      </p:sp>
      <p:sp>
        <p:nvSpPr>
          <p:cNvPr id="20" name="Text 18"/>
          <p:cNvSpPr txBox="1"/>
          <p:nvPr/>
        </p:nvSpPr>
        <p:spPr>
          <a:xfrm>
            <a:off x="822960" y="4526280"/>
            <a:ext cx="1554480" cy="11155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400" b="1" dirty="0">
                <a:solidFill>
                  <a:srgbClr val="2B1B21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59</a:t>
            </a:r>
            <a:endParaRPr lang="en-US" sz="3400" dirty="0"/>
          </a:p>
        </p:txBody>
      </p:sp>
      <p:sp>
        <p:nvSpPr>
          <p:cNvPr id="21" name="Shape 19"/>
          <p:cNvSpPr/>
          <p:nvPr/>
        </p:nvSpPr>
        <p:spPr>
          <a:xfrm>
            <a:off x="4242816" y="4846320"/>
            <a:ext cx="475488" cy="475488"/>
          </a:xfrm>
          <a:prstGeom prst="ellipse">
            <a:avLst/>
          </a:prstGeom>
          <a:solidFill>
            <a:srgbClr val="6D2E46"/>
          </a:solidFill>
        </p:spPr>
      </p:sp>
      <p:sp>
        <p:nvSpPr>
          <p:cNvPr id="22" name="Text 20"/>
          <p:cNvSpPr txBox="1"/>
          <p:nvPr/>
        </p:nvSpPr>
        <p:spPr>
          <a:xfrm>
            <a:off x="4242816" y="4846320"/>
            <a:ext cx="475488" cy="47548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✓</a:t>
            </a:r>
            <a:endParaRPr lang="en-US" sz="2000" dirty="0"/>
          </a:p>
        </p:txBody>
      </p:sp>
      <p:sp>
        <p:nvSpPr>
          <p:cNvPr id="23" name="Text 21"/>
          <p:cNvSpPr txBox="1"/>
          <p:nvPr/>
        </p:nvSpPr>
        <p:spPr>
          <a:xfrm>
            <a:off x="2514600" y="4654296"/>
            <a:ext cx="1563624" cy="36576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2B1B2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Final comparison set</a:t>
            </a:r>
            <a:endParaRPr lang="en-US" sz="1300" dirty="0"/>
          </a:p>
        </p:txBody>
      </p:sp>
      <p:sp>
        <p:nvSpPr>
          <p:cNvPr id="24" name="Text 22"/>
          <p:cNvSpPr txBox="1"/>
          <p:nvPr/>
        </p:nvSpPr>
        <p:spPr>
          <a:xfrm>
            <a:off x="2514600" y="5029200"/>
            <a:ext cx="1563624" cy="27432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i="1" dirty="0">
                <a:solidFill>
                  <a:srgbClr val="6B5A6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Disorder records (Insomnia + Sleep Apnea)</a:t>
            </a:r>
            <a:endParaRPr lang="en-US" sz="950" dirty="0"/>
          </a:p>
        </p:txBody>
      </p:sp>
      <p:sp>
        <p:nvSpPr>
          <p:cNvPr id="25" name="Text 23"/>
          <p:cNvSpPr txBox="1"/>
          <p:nvPr/>
        </p:nvSpPr>
        <p:spPr>
          <a:xfrm>
            <a:off x="5221224" y="4526280"/>
            <a:ext cx="6208776" cy="11155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B5A6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29 Insomnia records vs 30 Sleep Apnea records — a near-balanced sample.</a:t>
            </a:r>
            <a:endParaRPr lang="en-US" sz="1100" dirty="0"/>
          </a:p>
        </p:txBody>
      </p:sp>
      <p:sp>
        <p:nvSpPr>
          <p:cNvPr id="26" name="Text 24"/>
          <p:cNvSpPr txBox="1"/>
          <p:nvPr/>
        </p:nvSpPr>
        <p:spPr>
          <a:xfrm>
            <a:off x="11430000" y="6355080"/>
            <a:ext cx="54864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9A7B8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03</a:t>
            </a:r>
            <a:endParaRPr lang="en-US" sz="1100" dirty="0"/>
          </a:p>
        </p:txBody>
      </p:sp>
      <p:sp>
        <p:nvSpPr>
          <p:cNvPr id="27" name="Text 25"/>
          <p:cNvSpPr txBox="1"/>
          <p:nvPr/>
        </p:nvSpPr>
        <p:spPr>
          <a:xfrm>
            <a:off x="548640" y="6355080"/>
            <a:ext cx="548640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A7B8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SLEEP HEALTH &amp; SLEEP DISORDERS — EDA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F3EDFB"/>
            </a:gs>
            <a:gs pos="50000">
              <a:srgbClr val="E9F2FA"/>
            </a:gs>
            <a:gs pos="100000">
              <a:srgbClr val="FDEEE4"/>
            </a:gs>
          </a:gsLst>
          <a:lin ang="27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47472"/>
            <a:ext cx="109728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700" b="1">
                <a:solidFill>
                  <a:srgbClr val="1E293B"/>
                </a:solidFill>
                <a:latin typeface="Calibri"/>
              </a:rPr>
              <a:t>Distribution of Disorders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868680"/>
            <a:ext cx="10789920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64748B"/>
                </a:solidFill>
                <a:latin typeface="Calibri"/>
              </a:rPr>
              <a:t>The final disorder-only sample is almost perfectly balanced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201400" y="6473952"/>
            <a:ext cx="45720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1">
                <a:solidFill>
                  <a:srgbClr val="64748B"/>
                </a:solidFill>
                <a:latin typeface="Calibri"/>
              </a:rPr>
              <a:t>08</a:t>
            </a:r>
          </a:p>
        </p:txBody>
      </p:sp>
      <p:graphicFrame>
        <p:nvGraphicFramePr>
          <p:cNvPr id="5" name="Chart 4"/>
          <p:cNvGraphicFramePr>
            <a:graphicFrameLocks noGrp="1"/>
          </p:cNvGraphicFramePr>
          <p:nvPr/>
        </p:nvGraphicFramePr>
        <p:xfrm>
          <a:off x="640080" y="1234440"/>
          <a:ext cx="5029200" cy="475488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6" name="Rounded Rectangle 5"/>
          <p:cNvSpPr/>
          <p:nvPr/>
        </p:nvSpPr>
        <p:spPr>
          <a:xfrm>
            <a:off x="6080760" y="1508760"/>
            <a:ext cx="4625822" cy="1417320"/>
          </a:xfrm>
          <a:prstGeom prst="roundRect">
            <a:avLst/>
          </a:prstGeom>
          <a:solidFill>
            <a:srgbClr val="FBE3D3"/>
          </a:solidFill>
          <a:ln w="19050">
            <a:solidFill>
              <a:srgbClr val="D971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6281928" y="1673351"/>
            <a:ext cx="4809744" cy="33855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 dirty="0">
                <a:solidFill>
                  <a:srgbClr val="D9714A"/>
                </a:solidFill>
                <a:latin typeface="Calibri"/>
              </a:rPr>
              <a:t>INSOMNIA</a:t>
            </a:r>
            <a:endParaRPr sz="1500" b="1" dirty="0">
              <a:solidFill>
                <a:srgbClr val="D9714A"/>
              </a:solidFill>
              <a:latin typeface="Calibri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6281928" y="2075688"/>
            <a:ext cx="4809744" cy="33855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0" dirty="0">
                <a:solidFill>
                  <a:srgbClr val="1E293B"/>
                </a:solidFill>
                <a:latin typeface="Calibri"/>
              </a:rPr>
              <a:t>29 cases  •  49.2% of disorder group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080760" y="3154680"/>
            <a:ext cx="4625822" cy="1417320"/>
          </a:xfrm>
          <a:prstGeom prst="roundRect">
            <a:avLst/>
          </a:prstGeom>
          <a:solidFill>
            <a:srgbClr val="DCEEF5"/>
          </a:solidFill>
          <a:ln w="19050">
            <a:solidFill>
              <a:srgbClr val="2E86A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281928" y="3319272"/>
            <a:ext cx="4809744" cy="33855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 dirty="0">
                <a:solidFill>
                  <a:srgbClr val="2E86AB"/>
                </a:solidFill>
                <a:latin typeface="Calibri"/>
              </a:rPr>
              <a:t>SLEEP APNEA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281928" y="3721608"/>
            <a:ext cx="4809744" cy="33855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0" dirty="0">
                <a:solidFill>
                  <a:srgbClr val="1E293B"/>
                </a:solidFill>
                <a:latin typeface="Calibri"/>
              </a:rPr>
              <a:t>30 cases  •  50.8% of disorder group</a:t>
            </a:r>
          </a:p>
        </p:txBody>
      </p:sp>
      <p:sp>
        <p:nvSpPr>
          <p:cNvPr id="15" name="Rectangle 14"/>
          <p:cNvSpPr/>
          <p:nvPr/>
        </p:nvSpPr>
        <p:spPr>
          <a:xfrm>
            <a:off x="1026367" y="6113071"/>
            <a:ext cx="9787813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600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Insights : The dataset is almost equally divided, with 29 Insomnia cases (49.2%) and 30 Sleep Apnea cases (50.8%).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F3EDFB"/>
            </a:gs>
            <a:gs pos="50000">
              <a:srgbClr val="E9F2FA"/>
            </a:gs>
            <a:gs pos="100000">
              <a:srgbClr val="FDEEE4"/>
            </a:gs>
          </a:gsLst>
          <a:lin ang="27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47472"/>
            <a:ext cx="109728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700" b="1">
                <a:solidFill>
                  <a:srgbClr val="1E293B"/>
                </a:solidFill>
                <a:latin typeface="Calibri"/>
              </a:rPr>
              <a:t>Sleep Quality &amp; Duration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868680"/>
            <a:ext cx="10789920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64748B"/>
                </a:solidFill>
                <a:latin typeface="Calibri"/>
              </a:rPr>
              <a:t>Average values among the 59 disorder records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201400" y="6473952"/>
            <a:ext cx="45720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1">
                <a:solidFill>
                  <a:srgbClr val="64748B"/>
                </a:solidFill>
                <a:latin typeface="Calibri"/>
              </a:rPr>
              <a:t>09</a:t>
            </a:r>
          </a:p>
        </p:txBody>
      </p:sp>
      <p:graphicFrame>
        <p:nvGraphicFramePr>
          <p:cNvPr id="5" name="Chart 4"/>
          <p:cNvGraphicFramePr>
            <a:graphicFrameLocks noGrp="1"/>
          </p:cNvGraphicFramePr>
          <p:nvPr/>
        </p:nvGraphicFramePr>
        <p:xfrm>
          <a:off x="594360" y="1325880"/>
          <a:ext cx="6766560" cy="429768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6" name="Rounded Rectangle 5"/>
          <p:cNvSpPr/>
          <p:nvPr/>
        </p:nvSpPr>
        <p:spPr>
          <a:xfrm>
            <a:off x="7635240" y="1508760"/>
            <a:ext cx="3977639" cy="1554480"/>
          </a:xfrm>
          <a:prstGeom prst="roundRect">
            <a:avLst/>
          </a:prstGeom>
          <a:solidFill>
            <a:srgbClr val="FBE3D3"/>
          </a:solidFill>
          <a:ln w="19050">
            <a:solidFill>
              <a:srgbClr val="D971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836408" y="1673351"/>
            <a:ext cx="3575303" cy="33855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 dirty="0">
                <a:solidFill>
                  <a:srgbClr val="D9714A"/>
                </a:solidFill>
                <a:latin typeface="Calibri"/>
              </a:rPr>
              <a:t>INSOMNIA</a:t>
            </a:r>
            <a:endParaRPr sz="1500" b="1" dirty="0">
              <a:solidFill>
                <a:srgbClr val="D9714A"/>
              </a:solidFill>
              <a:latin typeface="Calibri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7836408" y="2075688"/>
            <a:ext cx="3575303" cy="584775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0" dirty="0">
                <a:solidFill>
                  <a:srgbClr val="1E293B"/>
                </a:solidFill>
                <a:latin typeface="Calibri"/>
              </a:rPr>
              <a:t>6.68 </a:t>
            </a:r>
            <a:r>
              <a:rPr sz="1600" b="0" dirty="0" err="1">
                <a:solidFill>
                  <a:srgbClr val="1E293B"/>
                </a:solidFill>
                <a:latin typeface="Calibri"/>
              </a:rPr>
              <a:t>hrs</a:t>
            </a:r>
            <a:r>
              <a:rPr sz="1600" b="0" dirty="0">
                <a:solidFill>
                  <a:srgbClr val="1E293B"/>
                </a:solidFill>
                <a:latin typeface="Calibri"/>
              </a:rPr>
              <a:t> sleep duration
6.52 / 10 quality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635240" y="3291840"/>
            <a:ext cx="3977639" cy="1554480"/>
          </a:xfrm>
          <a:prstGeom prst="roundRect">
            <a:avLst/>
          </a:prstGeom>
          <a:solidFill>
            <a:srgbClr val="DCEEF5"/>
          </a:solidFill>
          <a:ln w="19050">
            <a:solidFill>
              <a:srgbClr val="2E86A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7836408" y="3456432"/>
            <a:ext cx="3575303" cy="33855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 dirty="0">
                <a:solidFill>
                  <a:srgbClr val="2E86AB"/>
                </a:solidFill>
                <a:latin typeface="Calibri"/>
              </a:rPr>
              <a:t>SLEEP APNEA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836408" y="3858768"/>
            <a:ext cx="3575303" cy="584775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0" dirty="0">
                <a:solidFill>
                  <a:srgbClr val="1E293B"/>
                </a:solidFill>
                <a:latin typeface="Calibri"/>
              </a:rPr>
              <a:t>6.94 </a:t>
            </a:r>
            <a:r>
              <a:rPr sz="1600" b="0" dirty="0" err="1">
                <a:solidFill>
                  <a:srgbClr val="1E293B"/>
                </a:solidFill>
                <a:latin typeface="Calibri"/>
              </a:rPr>
              <a:t>hrs</a:t>
            </a:r>
            <a:r>
              <a:rPr sz="1600" b="0" dirty="0">
                <a:solidFill>
                  <a:srgbClr val="1E293B"/>
                </a:solidFill>
                <a:latin typeface="Calibri"/>
              </a:rPr>
              <a:t> sleep duration
6.87 / 10 quality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83296" y="5827621"/>
            <a:ext cx="9548328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600" b="1" dirty="0"/>
              <a:t>Insights : Sleep Apnea has slightly higher average sleep duration and sleep quality than Insomnia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F3EDFB"/>
            </a:gs>
            <a:gs pos="50000">
              <a:srgbClr val="E9F2FA"/>
            </a:gs>
            <a:gs pos="100000">
              <a:srgbClr val="FDEEE4"/>
            </a:gs>
          </a:gsLst>
          <a:lin ang="27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47472"/>
            <a:ext cx="109728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700" b="1">
                <a:solidFill>
                  <a:srgbClr val="1E293B"/>
                </a:solidFill>
                <a:latin typeface="Calibri"/>
              </a:rPr>
              <a:t>The Stress Factor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868680"/>
            <a:ext cx="10789920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64748B"/>
                </a:solidFill>
                <a:latin typeface="Calibri"/>
              </a:rPr>
              <a:t>Stress is higher in the Insomnia group in this dataset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201400" y="6473952"/>
            <a:ext cx="45720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1">
                <a:solidFill>
                  <a:srgbClr val="64748B"/>
                </a:solidFill>
                <a:latin typeface="Calibri"/>
              </a:rPr>
              <a:t>10</a:t>
            </a:r>
          </a:p>
        </p:txBody>
      </p:sp>
      <p:graphicFrame>
        <p:nvGraphicFramePr>
          <p:cNvPr id="5" name="Chart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1237262"/>
              </p:ext>
            </p:extLst>
          </p:nvPr>
        </p:nvGraphicFramePr>
        <p:xfrm>
          <a:off x="914400" y="1371600"/>
          <a:ext cx="6583680" cy="429768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6" name="Rounded Rectangle 5"/>
          <p:cNvSpPr/>
          <p:nvPr/>
        </p:nvSpPr>
        <p:spPr>
          <a:xfrm>
            <a:off x="7909560" y="1695971"/>
            <a:ext cx="3383280" cy="1508760"/>
          </a:xfrm>
          <a:prstGeom prst="roundRect">
            <a:avLst/>
          </a:prstGeom>
          <a:solidFill>
            <a:srgbClr val="FBE3D3"/>
          </a:solidFill>
          <a:ln w="19050">
            <a:solidFill>
              <a:srgbClr val="D971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110728" y="1860563"/>
            <a:ext cx="2980944" cy="33855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 dirty="0">
                <a:solidFill>
                  <a:srgbClr val="D9714A"/>
                </a:solidFill>
                <a:latin typeface="Calibri"/>
              </a:rPr>
              <a:t>INSOMNIA</a:t>
            </a:r>
            <a:endParaRPr sz="1500" b="1" dirty="0">
              <a:solidFill>
                <a:srgbClr val="D9714A"/>
              </a:solidFill>
              <a:latin typeface="Calibri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8110728" y="2262899"/>
            <a:ext cx="2980944" cy="33855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0" dirty="0">
                <a:solidFill>
                  <a:srgbClr val="1E293B"/>
                </a:solidFill>
                <a:latin typeface="Calibri"/>
              </a:rPr>
              <a:t>Average stress: 6.03 / 10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909560" y="3644156"/>
            <a:ext cx="3383280" cy="1508760"/>
          </a:xfrm>
          <a:prstGeom prst="roundRect">
            <a:avLst/>
          </a:prstGeom>
          <a:solidFill>
            <a:srgbClr val="DCEEF5"/>
          </a:solidFill>
          <a:ln w="19050">
            <a:solidFill>
              <a:srgbClr val="2E86A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8110728" y="3808748"/>
            <a:ext cx="2980944" cy="33855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 dirty="0">
                <a:solidFill>
                  <a:srgbClr val="2E86AB"/>
                </a:solidFill>
                <a:latin typeface="Calibri"/>
              </a:rPr>
              <a:t>SLEEP APNEA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110728" y="4211084"/>
            <a:ext cx="2980944" cy="33855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0" dirty="0">
                <a:solidFill>
                  <a:srgbClr val="1E293B"/>
                </a:solidFill>
                <a:latin typeface="Calibri"/>
              </a:rPr>
              <a:t>Average stress: 5.93 / 10</a:t>
            </a:r>
          </a:p>
        </p:txBody>
      </p:sp>
      <p:sp>
        <p:nvSpPr>
          <p:cNvPr id="15" name="Rectangle 14"/>
          <p:cNvSpPr/>
          <p:nvPr/>
        </p:nvSpPr>
        <p:spPr>
          <a:xfrm>
            <a:off x="1564432" y="5960466"/>
            <a:ext cx="8195388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600" b="1" dirty="0"/>
              <a:t>Insights : Average stress is slightly higher for Insomnia (6.03) than Sleep Apnea (5.93)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F3EDFB"/>
            </a:gs>
            <a:gs pos="50000">
              <a:srgbClr val="E9F2FA"/>
            </a:gs>
            <a:gs pos="100000">
              <a:srgbClr val="FDEEE4"/>
            </a:gs>
          </a:gsLst>
          <a:lin ang="27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47472"/>
            <a:ext cx="109728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700" b="1">
                <a:solidFill>
                  <a:srgbClr val="1E293B"/>
                </a:solidFill>
                <a:latin typeface="Calibri"/>
              </a:rPr>
              <a:t>Physical Activity &amp; Lifestyle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868680"/>
            <a:ext cx="10789920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64748B"/>
                </a:solidFill>
                <a:latin typeface="Calibri"/>
              </a:rPr>
              <a:t>Two charts keep small scores separate from large step counts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201400" y="6473952"/>
            <a:ext cx="45720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1">
                <a:solidFill>
                  <a:srgbClr val="64748B"/>
                </a:solidFill>
                <a:latin typeface="Calibri"/>
              </a:rPr>
              <a:t>11</a:t>
            </a:r>
          </a:p>
        </p:txBody>
      </p:sp>
      <p:graphicFrame>
        <p:nvGraphicFramePr>
          <p:cNvPr id="5" name="Chart 4"/>
          <p:cNvGraphicFramePr>
            <a:graphicFrameLocks noGrp="1"/>
          </p:cNvGraphicFramePr>
          <p:nvPr/>
        </p:nvGraphicFramePr>
        <p:xfrm>
          <a:off x="548640" y="1280160"/>
          <a:ext cx="5486400" cy="448056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graphicFrame>
        <p:nvGraphicFramePr>
          <p:cNvPr id="6" name="Chart 5"/>
          <p:cNvGraphicFramePr>
            <a:graphicFrameLocks noGrp="1"/>
          </p:cNvGraphicFramePr>
          <p:nvPr/>
        </p:nvGraphicFramePr>
        <p:xfrm>
          <a:off x="6217920" y="1280160"/>
          <a:ext cx="5394960" cy="448056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914400" y="5989320"/>
            <a:ext cx="10332720" cy="584775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lang="en-US" sz="1600" b="1" dirty="0"/>
              <a:t>Insight: Sleep Apnea shows higher physical activity on average. It also records more daily steps than Insomnia </a:t>
            </a:r>
            <a:r>
              <a:rPr sz="1600" b="1" dirty="0">
                <a:solidFill>
                  <a:srgbClr val="1E293B"/>
                </a:solidFill>
                <a:latin typeface="Calibri"/>
              </a:rPr>
              <a:t>cords have higher average activity and steps.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F3EDFB"/>
            </a:gs>
            <a:gs pos="50000">
              <a:srgbClr val="E9F2FA"/>
            </a:gs>
            <a:gs pos="100000">
              <a:srgbClr val="FDEEE4"/>
            </a:gs>
          </a:gsLst>
          <a:lin ang="27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47472"/>
            <a:ext cx="109728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700" b="1">
                <a:solidFill>
                  <a:srgbClr val="1E293B"/>
                </a:solidFill>
                <a:latin typeface="Calibri"/>
              </a:rPr>
              <a:t>Occupational Patterns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868680"/>
            <a:ext cx="10789920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64748B"/>
                </a:solidFill>
                <a:latin typeface="Calibri"/>
              </a:rPr>
              <a:t>Which disorder is more common within each occupation?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201400" y="6473952"/>
            <a:ext cx="45720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1">
                <a:solidFill>
                  <a:srgbClr val="64748B"/>
                </a:solidFill>
                <a:latin typeface="Calibri"/>
              </a:rPr>
              <a:t>12</a:t>
            </a:r>
          </a:p>
        </p:txBody>
      </p:sp>
      <p:graphicFrame>
        <p:nvGraphicFramePr>
          <p:cNvPr id="5" name="Chart 4"/>
          <p:cNvGraphicFramePr>
            <a:graphicFrameLocks noGrp="1"/>
          </p:cNvGraphicFramePr>
          <p:nvPr/>
        </p:nvGraphicFramePr>
        <p:xfrm>
          <a:off x="411480" y="1234440"/>
          <a:ext cx="7315200" cy="50292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100" name="Card 100"/>
          <p:cNvSpPr/>
          <p:nvPr/>
        </p:nvSpPr>
        <p:spPr>
          <a:xfrm>
            <a:off x="7955279" y="1371600"/>
            <a:ext cx="3566160" cy="960120"/>
          </a:xfrm>
          <a:prstGeom prst="roundRect">
            <a:avLst/>
          </a:prstGeom>
          <a:solidFill>
            <a:srgbClr val="DCEEF5"/>
          </a:solidFill>
          <a:ln w="19050">
            <a:solidFill>
              <a:srgbClr val="2E86A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1" name="TextBox 101"/>
          <p:cNvSpPr txBox="1"/>
          <p:nvPr/>
        </p:nvSpPr>
        <p:spPr>
          <a:xfrm>
            <a:off x="8138159" y="1463040"/>
            <a:ext cx="320040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lang="en-US" sz="1600" b="1" dirty="0">
                <a:solidFill>
                  <a:srgbClr val="2E86AB"/>
                </a:solidFill>
                <a:latin typeface="Calibri"/>
              </a:rPr>
              <a:t>NURSES</a:t>
            </a:r>
            <a:endParaRPr lang="en-US" sz="1500" b="1" dirty="0">
              <a:solidFill>
                <a:srgbClr val="2E86AB"/>
              </a:solidFill>
              <a:latin typeface="Calibri"/>
            </a:endParaRPr>
          </a:p>
        </p:txBody>
      </p:sp>
      <p:sp>
        <p:nvSpPr>
          <p:cNvPr id="102" name="TextBox 102"/>
          <p:cNvSpPr txBox="1"/>
          <p:nvPr/>
        </p:nvSpPr>
        <p:spPr>
          <a:xfrm>
            <a:off x="8138159" y="1792224"/>
            <a:ext cx="3200400" cy="5029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lang="en-US" sz="1600" b="0" dirty="0">
                <a:solidFill>
                  <a:srgbClr val="1E293B"/>
                </a:solidFill>
                <a:latin typeface="Calibri"/>
              </a:rPr>
              <a:t>85% Sleep Apnea</a:t>
            </a:r>
          </a:p>
        </p:txBody>
      </p:sp>
      <p:sp>
        <p:nvSpPr>
          <p:cNvPr id="103" name="Card 103"/>
          <p:cNvSpPr/>
          <p:nvPr/>
        </p:nvSpPr>
        <p:spPr>
          <a:xfrm>
            <a:off x="7955279" y="2468880"/>
            <a:ext cx="3566160" cy="960120"/>
          </a:xfrm>
          <a:prstGeom prst="roundRect">
            <a:avLst/>
          </a:prstGeom>
          <a:solidFill>
            <a:srgbClr val="DCEEF5"/>
          </a:solidFill>
          <a:ln w="19050">
            <a:solidFill>
              <a:srgbClr val="2E86A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4" name="TextBox 104"/>
          <p:cNvSpPr txBox="1"/>
          <p:nvPr/>
        </p:nvSpPr>
        <p:spPr>
          <a:xfrm>
            <a:off x="8138159" y="2560320"/>
            <a:ext cx="320040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lang="en-US" sz="1600" b="1" dirty="0">
                <a:solidFill>
                  <a:srgbClr val="2E86AB"/>
                </a:solidFill>
                <a:latin typeface="Calibri"/>
              </a:rPr>
              <a:t>SCIENTISTS</a:t>
            </a:r>
            <a:endParaRPr lang="en-US" sz="1500" b="1" dirty="0">
              <a:solidFill>
                <a:srgbClr val="2E86AB"/>
              </a:solidFill>
              <a:latin typeface="Calibri"/>
            </a:endParaRPr>
          </a:p>
        </p:txBody>
      </p:sp>
      <p:sp>
        <p:nvSpPr>
          <p:cNvPr id="105" name="TextBox 105"/>
          <p:cNvSpPr txBox="1"/>
          <p:nvPr/>
        </p:nvSpPr>
        <p:spPr>
          <a:xfrm>
            <a:off x="8138159" y="2889504"/>
            <a:ext cx="3200400" cy="5029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lang="en-US" sz="1600" b="0" dirty="0">
                <a:solidFill>
                  <a:srgbClr val="1E293B"/>
                </a:solidFill>
                <a:latin typeface="Calibri"/>
              </a:rPr>
              <a:t>100% Sleep Apnea</a:t>
            </a:r>
          </a:p>
        </p:txBody>
      </p:sp>
      <p:sp>
        <p:nvSpPr>
          <p:cNvPr id="106" name="Card 106"/>
          <p:cNvSpPr/>
          <p:nvPr/>
        </p:nvSpPr>
        <p:spPr>
          <a:xfrm>
            <a:off x="7955279" y="3566160"/>
            <a:ext cx="3566160" cy="960120"/>
          </a:xfrm>
          <a:prstGeom prst="roundRect">
            <a:avLst/>
          </a:prstGeom>
          <a:solidFill>
            <a:srgbClr val="FBE3D3"/>
          </a:solidFill>
          <a:ln w="19050">
            <a:solidFill>
              <a:srgbClr val="D971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7" name="TextBox 107"/>
          <p:cNvSpPr txBox="1"/>
          <p:nvPr/>
        </p:nvSpPr>
        <p:spPr>
          <a:xfrm>
            <a:off x="8138159" y="3657600"/>
            <a:ext cx="320040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lang="en-US" sz="1600" b="1" dirty="0">
                <a:solidFill>
                  <a:srgbClr val="D9714A"/>
                </a:solidFill>
                <a:latin typeface="Calibri"/>
              </a:rPr>
              <a:t>ACCOUNTANTS &amp; SOFTWARE ENG.</a:t>
            </a:r>
          </a:p>
        </p:txBody>
      </p:sp>
      <p:sp>
        <p:nvSpPr>
          <p:cNvPr id="108" name="TextBox 108"/>
          <p:cNvSpPr txBox="1"/>
          <p:nvPr/>
        </p:nvSpPr>
        <p:spPr>
          <a:xfrm>
            <a:off x="8138159" y="3986784"/>
            <a:ext cx="3200400" cy="5029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lang="en-US" sz="1600" b="0" dirty="0">
                <a:solidFill>
                  <a:srgbClr val="1E293B"/>
                </a:solidFill>
                <a:latin typeface="Calibri"/>
              </a:rPr>
              <a:t>100% Insomnia</a:t>
            </a:r>
          </a:p>
        </p:txBody>
      </p:sp>
      <p:sp>
        <p:nvSpPr>
          <p:cNvPr id="109" name="Card 109"/>
          <p:cNvSpPr/>
          <p:nvPr/>
        </p:nvSpPr>
        <p:spPr>
          <a:xfrm>
            <a:off x="7955279" y="4663440"/>
            <a:ext cx="3566160" cy="960120"/>
          </a:xfrm>
          <a:prstGeom prst="roundRect">
            <a:avLst/>
          </a:prstGeom>
          <a:solidFill>
            <a:srgbClr val="FBE3D3"/>
          </a:solidFill>
          <a:ln w="19050">
            <a:solidFill>
              <a:srgbClr val="D971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0" name="TextBox 110"/>
          <p:cNvSpPr txBox="1"/>
          <p:nvPr/>
        </p:nvSpPr>
        <p:spPr>
          <a:xfrm>
            <a:off x="8138159" y="4754880"/>
            <a:ext cx="320040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lang="en-US" sz="1600" b="1" dirty="0">
                <a:solidFill>
                  <a:srgbClr val="D9714A"/>
                </a:solidFill>
                <a:latin typeface="Calibri"/>
              </a:rPr>
              <a:t>TEACHERS</a:t>
            </a:r>
            <a:r>
              <a:rPr lang="en-US" sz="1500" b="1" dirty="0">
                <a:solidFill>
                  <a:srgbClr val="D9714A"/>
                </a:solidFill>
                <a:latin typeface="Calibri"/>
              </a:rPr>
              <a:t> / </a:t>
            </a:r>
            <a:r>
              <a:rPr lang="en-US" sz="1600" b="1" dirty="0">
                <a:solidFill>
                  <a:srgbClr val="D9714A"/>
                </a:solidFill>
                <a:latin typeface="Calibri"/>
              </a:rPr>
              <a:t>SALESPEOPLE</a:t>
            </a:r>
            <a:endParaRPr lang="en-US" sz="1500" b="1" dirty="0">
              <a:solidFill>
                <a:srgbClr val="D9714A"/>
              </a:solidFill>
              <a:latin typeface="Calibri"/>
            </a:endParaRPr>
          </a:p>
        </p:txBody>
      </p:sp>
      <p:sp>
        <p:nvSpPr>
          <p:cNvPr id="111" name="TextBox 111"/>
          <p:cNvSpPr txBox="1"/>
          <p:nvPr/>
        </p:nvSpPr>
        <p:spPr>
          <a:xfrm>
            <a:off x="8138159" y="5084064"/>
            <a:ext cx="3200400" cy="5029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lang="en-US" sz="1600" b="0" dirty="0">
                <a:solidFill>
                  <a:srgbClr val="1E293B"/>
                </a:solidFill>
                <a:latin typeface="Calibri"/>
              </a:rPr>
              <a:t>72.7% / 75% Insomnia</a:t>
            </a:r>
          </a:p>
        </p:txBody>
      </p:sp>
      <p:sp>
        <p:nvSpPr>
          <p:cNvPr id="6" name="Rectangle 5"/>
          <p:cNvSpPr/>
          <p:nvPr/>
        </p:nvSpPr>
        <p:spPr>
          <a:xfrm>
            <a:off x="621792" y="6247491"/>
            <a:ext cx="9996445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600" b="1" dirty="0"/>
              <a:t>Insight: Sleep Apnea shows higher physical activity on average. It also records more daily steps than Insomnia</a:t>
            </a:r>
            <a:endParaRPr lang="en-US" sz="1600" b="1" dirty="0">
              <a:solidFill>
                <a:srgbClr val="64748B"/>
              </a:solidFill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F3EDFB"/>
            </a:gs>
            <a:gs pos="50000">
              <a:srgbClr val="E9F2FA"/>
            </a:gs>
            <a:gs pos="100000">
              <a:srgbClr val="FDEEE4"/>
            </a:gs>
          </a:gsLst>
          <a:lin ang="27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47472"/>
            <a:ext cx="109728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700" b="1">
                <a:solidFill>
                  <a:srgbClr val="1E293B"/>
                </a:solidFill>
                <a:latin typeface="Calibri"/>
              </a:rPr>
              <a:t>BMI &amp; Body Composition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868680"/>
            <a:ext cx="10789920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64748B"/>
                </a:solidFill>
                <a:latin typeface="Calibri"/>
              </a:rPr>
              <a:t>The disorder mix changes across BMI categories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201400" y="6473952"/>
            <a:ext cx="45720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1">
                <a:solidFill>
                  <a:srgbClr val="64748B"/>
                </a:solidFill>
                <a:latin typeface="Calibri"/>
              </a:rPr>
              <a:t>13</a:t>
            </a:r>
          </a:p>
        </p:txBody>
      </p:sp>
      <p:graphicFrame>
        <p:nvGraphicFramePr>
          <p:cNvPr id="5" name="Chart 4"/>
          <p:cNvGraphicFramePr>
            <a:graphicFrameLocks noGrp="1"/>
          </p:cNvGraphicFramePr>
          <p:nvPr/>
        </p:nvGraphicFramePr>
        <p:xfrm>
          <a:off x="685800" y="1234440"/>
          <a:ext cx="6949440" cy="475488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100" name="Card 100"/>
          <p:cNvSpPr/>
          <p:nvPr/>
        </p:nvSpPr>
        <p:spPr>
          <a:xfrm>
            <a:off x="8001000" y="1417320"/>
            <a:ext cx="3291840" cy="1417320"/>
          </a:xfrm>
          <a:prstGeom prst="roundRect">
            <a:avLst/>
          </a:prstGeom>
          <a:solidFill>
            <a:srgbClr val="DCEEF5"/>
          </a:solidFill>
          <a:ln w="19050">
            <a:solidFill>
              <a:srgbClr val="2E86A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1" name="TextBox 101"/>
          <p:cNvSpPr txBox="1"/>
          <p:nvPr/>
        </p:nvSpPr>
        <p:spPr>
          <a:xfrm>
            <a:off x="8183880" y="1508760"/>
            <a:ext cx="292608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lang="en-US" sz="1500" b="1">
                <a:solidFill>
                  <a:srgbClr val="2E86AB"/>
                </a:solidFill>
                <a:latin typeface="Calibri"/>
              </a:rPr>
              <a:t>OBESE</a:t>
            </a:r>
          </a:p>
        </p:txBody>
      </p:sp>
      <p:sp>
        <p:nvSpPr>
          <p:cNvPr id="102" name="TextBox 102"/>
          <p:cNvSpPr txBox="1"/>
          <p:nvPr/>
        </p:nvSpPr>
        <p:spPr>
          <a:xfrm>
            <a:off x="8183880" y="1837944"/>
            <a:ext cx="2926080" cy="9601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lang="en-US" sz="1600" b="0">
                <a:solidFill>
                  <a:srgbClr val="1E293B"/>
                </a:solidFill>
                <a:latin typeface="Calibri"/>
              </a:rPr>
              <a:t>Sleep Apnea: 57.1%</a:t>
            </a:r>
          </a:p>
          <a:p>
            <a:pPr algn="l"/>
            <a:r>
              <a:rPr lang="en-US" sz="1600" b="0">
                <a:solidFill>
                  <a:srgbClr val="1E293B"/>
                </a:solidFill>
                <a:latin typeface="Calibri"/>
              </a:rPr>
              <a:t>Insomnia: 42.9%</a:t>
            </a:r>
          </a:p>
        </p:txBody>
      </p:sp>
      <p:sp>
        <p:nvSpPr>
          <p:cNvPr id="103" name="Card 103"/>
          <p:cNvSpPr/>
          <p:nvPr/>
        </p:nvSpPr>
        <p:spPr>
          <a:xfrm>
            <a:off x="8001000" y="2971800"/>
            <a:ext cx="3291840" cy="1417320"/>
          </a:xfrm>
          <a:prstGeom prst="roundRect">
            <a:avLst/>
          </a:prstGeom>
          <a:solidFill>
            <a:srgbClr val="FBE3D3"/>
          </a:solidFill>
          <a:ln w="19050">
            <a:solidFill>
              <a:srgbClr val="D971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4" name="TextBox 104"/>
          <p:cNvSpPr txBox="1"/>
          <p:nvPr/>
        </p:nvSpPr>
        <p:spPr>
          <a:xfrm>
            <a:off x="8183880" y="3063240"/>
            <a:ext cx="292608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lang="en-US" sz="1500" b="1">
                <a:solidFill>
                  <a:srgbClr val="D9714A"/>
                </a:solidFill>
                <a:latin typeface="Calibri"/>
              </a:rPr>
              <a:t>NORMAL</a:t>
            </a:r>
          </a:p>
        </p:txBody>
      </p:sp>
      <p:sp>
        <p:nvSpPr>
          <p:cNvPr id="105" name="TextBox 105"/>
          <p:cNvSpPr txBox="1"/>
          <p:nvPr/>
        </p:nvSpPr>
        <p:spPr>
          <a:xfrm>
            <a:off x="8183880" y="3392424"/>
            <a:ext cx="2926080" cy="9601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lang="en-US" sz="1600" b="0">
                <a:solidFill>
                  <a:srgbClr val="1E293B"/>
                </a:solidFill>
                <a:latin typeface="Calibri"/>
              </a:rPr>
              <a:t>Insomnia: 53.3%</a:t>
            </a:r>
          </a:p>
          <a:p>
            <a:pPr algn="l"/>
            <a:r>
              <a:rPr lang="en-US" sz="1600" b="0">
                <a:solidFill>
                  <a:srgbClr val="1E293B"/>
                </a:solidFill>
                <a:latin typeface="Calibri"/>
              </a:rPr>
              <a:t>Sleep Apnea: 46.7%</a:t>
            </a:r>
          </a:p>
        </p:txBody>
      </p:sp>
      <p:sp>
        <p:nvSpPr>
          <p:cNvPr id="106" name="Card 106"/>
          <p:cNvSpPr/>
          <p:nvPr/>
        </p:nvSpPr>
        <p:spPr>
          <a:xfrm>
            <a:off x="8001000" y="4526280"/>
            <a:ext cx="3291840" cy="1417320"/>
          </a:xfrm>
          <a:prstGeom prst="roundRect">
            <a:avLst/>
          </a:prstGeom>
          <a:solidFill>
            <a:srgbClr val="FBEFD3"/>
          </a:solidFill>
          <a:ln w="19050">
            <a:solidFill>
              <a:srgbClr val="E8AA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7" name="TextBox 107"/>
          <p:cNvSpPr txBox="1"/>
          <p:nvPr/>
        </p:nvSpPr>
        <p:spPr>
          <a:xfrm>
            <a:off x="8183880" y="4617720"/>
            <a:ext cx="292608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lang="en-US" sz="1500" b="1">
                <a:solidFill>
                  <a:srgbClr val="E8AA42"/>
                </a:solidFill>
                <a:latin typeface="Calibri"/>
              </a:rPr>
              <a:t>OVERWEIGHT</a:t>
            </a:r>
          </a:p>
        </p:txBody>
      </p:sp>
      <p:sp>
        <p:nvSpPr>
          <p:cNvPr id="108" name="TextBox 108"/>
          <p:cNvSpPr txBox="1"/>
          <p:nvPr/>
        </p:nvSpPr>
        <p:spPr>
          <a:xfrm>
            <a:off x="8183880" y="4946904"/>
            <a:ext cx="2926080" cy="9601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lang="en-US" sz="1600" b="0">
                <a:solidFill>
                  <a:srgbClr val="1E293B"/>
                </a:solidFill>
                <a:latin typeface="Calibri"/>
              </a:rPr>
              <a:t>Sleep Apnea: 51.4%</a:t>
            </a:r>
          </a:p>
          <a:p>
            <a:pPr algn="l"/>
            <a:r>
              <a:rPr lang="en-US" sz="1600" b="0">
                <a:solidFill>
                  <a:srgbClr val="1E293B"/>
                </a:solidFill>
                <a:latin typeface="Calibri"/>
              </a:rPr>
              <a:t>Insomnia: 48.6%</a:t>
            </a:r>
          </a:p>
        </p:txBody>
      </p:sp>
      <p:sp>
        <p:nvSpPr>
          <p:cNvPr id="6" name="Rectangle 5"/>
          <p:cNvSpPr/>
          <p:nvPr/>
        </p:nvSpPr>
        <p:spPr>
          <a:xfrm>
            <a:off x="621792" y="6103153"/>
            <a:ext cx="9822370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312E81"/>
                </a:solidFill>
                <a:latin typeface="Aptos"/>
              </a:defRPr>
            </a:pPr>
            <a:r>
              <a:rPr lang="en-US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Insight: Sleep Apnea has a higher share in the Obese group, while Insomnia is slightly higher in the Normal group.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F3EDFB"/>
            </a:gs>
            <a:gs pos="50000">
              <a:srgbClr val="E9F2FA"/>
            </a:gs>
            <a:gs pos="100000">
              <a:srgbClr val="FDEEE4"/>
            </a:gs>
          </a:gsLst>
          <a:lin ang="27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47472"/>
            <a:ext cx="109728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700" b="1">
                <a:solidFill>
                  <a:srgbClr val="1E293B"/>
                </a:solidFill>
                <a:latin typeface="Calibri"/>
              </a:rPr>
              <a:t>Gender Differences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868680"/>
            <a:ext cx="10789920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64748B"/>
                </a:solidFill>
                <a:latin typeface="Calibri"/>
              </a:rPr>
              <a:t>Disorder mix differs between males and females in this cohort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201400" y="6473952"/>
            <a:ext cx="45720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1">
                <a:solidFill>
                  <a:srgbClr val="64748B"/>
                </a:solidFill>
                <a:latin typeface="Calibri"/>
              </a:rPr>
              <a:t>14</a:t>
            </a:r>
          </a:p>
        </p:txBody>
      </p:sp>
      <p:graphicFrame>
        <p:nvGraphicFramePr>
          <p:cNvPr id="5" name="Chart 4"/>
          <p:cNvGraphicFramePr>
            <a:graphicFrameLocks noGrp="1"/>
          </p:cNvGraphicFramePr>
          <p:nvPr/>
        </p:nvGraphicFramePr>
        <p:xfrm>
          <a:off x="731520" y="1280160"/>
          <a:ext cx="6766560" cy="475488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100" name="Card 100"/>
          <p:cNvSpPr/>
          <p:nvPr/>
        </p:nvSpPr>
        <p:spPr>
          <a:xfrm>
            <a:off x="7909560" y="1463040"/>
            <a:ext cx="3383280" cy="1417320"/>
          </a:xfrm>
          <a:prstGeom prst="roundRect">
            <a:avLst/>
          </a:prstGeom>
          <a:solidFill>
            <a:srgbClr val="DCEEF5"/>
          </a:solidFill>
          <a:ln w="19050">
            <a:solidFill>
              <a:srgbClr val="2E86A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1" name="TextBox 101"/>
          <p:cNvSpPr txBox="1"/>
          <p:nvPr/>
        </p:nvSpPr>
        <p:spPr>
          <a:xfrm>
            <a:off x="8092440" y="1554480"/>
            <a:ext cx="301752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lang="en-US" sz="1600" b="1" dirty="0">
                <a:solidFill>
                  <a:srgbClr val="2E86AB"/>
                </a:solidFill>
                <a:latin typeface="Calibri"/>
              </a:rPr>
              <a:t>FEMALE</a:t>
            </a:r>
          </a:p>
        </p:txBody>
      </p:sp>
      <p:sp>
        <p:nvSpPr>
          <p:cNvPr id="102" name="TextBox 102"/>
          <p:cNvSpPr txBox="1"/>
          <p:nvPr/>
        </p:nvSpPr>
        <p:spPr>
          <a:xfrm>
            <a:off x="8092440" y="1874520"/>
            <a:ext cx="3017520" cy="9601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lang="en-US" sz="1600" b="0" dirty="0">
                <a:solidFill>
                  <a:srgbClr val="1E293B"/>
                </a:solidFill>
                <a:latin typeface="Calibri"/>
              </a:rPr>
              <a:t>61.8% Sleep Apnea</a:t>
            </a:r>
          </a:p>
          <a:p>
            <a:pPr algn="l"/>
            <a:r>
              <a:rPr lang="en-US" sz="1600" b="0" dirty="0">
                <a:solidFill>
                  <a:srgbClr val="1E293B"/>
                </a:solidFill>
                <a:latin typeface="Calibri"/>
              </a:rPr>
              <a:t>38.2% Insomnia</a:t>
            </a:r>
          </a:p>
        </p:txBody>
      </p:sp>
      <p:sp>
        <p:nvSpPr>
          <p:cNvPr id="103" name="Card 103"/>
          <p:cNvSpPr/>
          <p:nvPr/>
        </p:nvSpPr>
        <p:spPr>
          <a:xfrm>
            <a:off x="7909560" y="3300984"/>
            <a:ext cx="3383280" cy="1417320"/>
          </a:xfrm>
          <a:prstGeom prst="roundRect">
            <a:avLst/>
          </a:prstGeom>
          <a:solidFill>
            <a:srgbClr val="FBE3D3"/>
          </a:solidFill>
          <a:ln w="19050">
            <a:solidFill>
              <a:srgbClr val="D971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4" name="TextBox 104"/>
          <p:cNvSpPr txBox="1"/>
          <p:nvPr/>
        </p:nvSpPr>
        <p:spPr>
          <a:xfrm>
            <a:off x="8092440" y="3392424"/>
            <a:ext cx="301752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lang="en-US" sz="1600" b="1" dirty="0">
                <a:solidFill>
                  <a:srgbClr val="D9714A"/>
                </a:solidFill>
                <a:latin typeface="Calibri"/>
              </a:rPr>
              <a:t>MALE</a:t>
            </a:r>
            <a:endParaRPr lang="en-US" sz="1500" b="1" dirty="0">
              <a:solidFill>
                <a:srgbClr val="D9714A"/>
              </a:solidFill>
              <a:latin typeface="Calibri"/>
            </a:endParaRPr>
          </a:p>
        </p:txBody>
      </p:sp>
      <p:sp>
        <p:nvSpPr>
          <p:cNvPr id="105" name="TextBox 105"/>
          <p:cNvSpPr txBox="1"/>
          <p:nvPr/>
        </p:nvSpPr>
        <p:spPr>
          <a:xfrm>
            <a:off x="8092440" y="3721608"/>
            <a:ext cx="3017520" cy="9601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lang="en-US" sz="1600" b="0" dirty="0">
                <a:solidFill>
                  <a:srgbClr val="1E293B"/>
                </a:solidFill>
                <a:latin typeface="Calibri"/>
              </a:rPr>
              <a:t>64.0% Insomnia</a:t>
            </a:r>
          </a:p>
          <a:p>
            <a:pPr algn="l"/>
            <a:r>
              <a:rPr lang="en-US" sz="1600" b="0" dirty="0">
                <a:solidFill>
                  <a:srgbClr val="1E293B"/>
                </a:solidFill>
                <a:latin typeface="Calibri"/>
              </a:rPr>
              <a:t>36.0% Sleep Apnea</a:t>
            </a:r>
          </a:p>
        </p:txBody>
      </p:sp>
      <p:sp>
        <p:nvSpPr>
          <p:cNvPr id="107" name="TextBox 107"/>
          <p:cNvSpPr txBox="1"/>
          <p:nvPr/>
        </p:nvSpPr>
        <p:spPr>
          <a:xfrm>
            <a:off x="8092440" y="4617720"/>
            <a:ext cx="301752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endParaRPr lang="en-US" sz="1500" b="1" dirty="0">
              <a:solidFill>
                <a:srgbClr val="E8AA42"/>
              </a:solidFill>
              <a:latin typeface="Calibri"/>
            </a:endParaRPr>
          </a:p>
        </p:txBody>
      </p:sp>
      <p:sp>
        <p:nvSpPr>
          <p:cNvPr id="15" name="TextBox 108"/>
          <p:cNvSpPr txBox="1"/>
          <p:nvPr/>
        </p:nvSpPr>
        <p:spPr>
          <a:xfrm>
            <a:off x="895739" y="6195060"/>
            <a:ext cx="8929396" cy="9601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lang="en-US" sz="1600" b="1" dirty="0">
                <a:solidFill>
                  <a:srgbClr val="1E293B"/>
                </a:solidFill>
                <a:latin typeface="Calibri"/>
              </a:rPr>
              <a:t>Insights : Among females, 61.8% of disorder cases are Sleep Apnea; among males, 64% are Insomnia.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F3EDFB"/>
            </a:gs>
            <a:gs pos="50000">
              <a:srgbClr val="E9F2FA"/>
            </a:gs>
            <a:gs pos="100000">
              <a:srgbClr val="FDEEE4"/>
            </a:gs>
          </a:gsLst>
          <a:lin ang="27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47472"/>
            <a:ext cx="109728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700" b="1">
                <a:solidFill>
                  <a:srgbClr val="1E293B"/>
                </a:solidFill>
                <a:latin typeface="Calibri"/>
              </a:rPr>
              <a:t>Age Progression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868680"/>
            <a:ext cx="10789920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64748B"/>
                </a:solidFill>
                <a:latin typeface="Calibri"/>
              </a:rPr>
              <a:t>Older groups show a stronger Sleep Apnea share in this sample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201400" y="6473952"/>
            <a:ext cx="45720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1">
                <a:solidFill>
                  <a:srgbClr val="64748B"/>
                </a:solidFill>
                <a:latin typeface="Calibri"/>
              </a:rPr>
              <a:t>15</a:t>
            </a:r>
          </a:p>
        </p:txBody>
      </p:sp>
      <p:graphicFrame>
        <p:nvGraphicFramePr>
          <p:cNvPr id="5" name="Chart 4"/>
          <p:cNvGraphicFramePr>
            <a:graphicFrameLocks noGrp="1"/>
          </p:cNvGraphicFramePr>
          <p:nvPr/>
        </p:nvGraphicFramePr>
        <p:xfrm>
          <a:off x="594360" y="1234440"/>
          <a:ext cx="7315200" cy="48463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100" name="Card 100"/>
          <p:cNvSpPr/>
          <p:nvPr/>
        </p:nvSpPr>
        <p:spPr>
          <a:xfrm>
            <a:off x="8138160" y="1417320"/>
            <a:ext cx="3246120" cy="1005840"/>
          </a:xfrm>
          <a:prstGeom prst="roundRect">
            <a:avLst/>
          </a:prstGeom>
          <a:solidFill>
            <a:srgbClr val="FBEFD3"/>
          </a:solidFill>
          <a:ln w="19050">
            <a:solidFill>
              <a:srgbClr val="E8AA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1" name="TextBox 101"/>
          <p:cNvSpPr txBox="1"/>
          <p:nvPr/>
        </p:nvSpPr>
        <p:spPr>
          <a:xfrm>
            <a:off x="8321040" y="1508760"/>
            <a:ext cx="288036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lang="en-US" sz="1600" b="1" dirty="0">
                <a:solidFill>
                  <a:srgbClr val="E8AA42"/>
                </a:solidFill>
                <a:latin typeface="Calibri"/>
              </a:rPr>
              <a:t>18–29</a:t>
            </a:r>
          </a:p>
        </p:txBody>
      </p:sp>
      <p:sp>
        <p:nvSpPr>
          <p:cNvPr id="102" name="TextBox 102"/>
          <p:cNvSpPr txBox="1"/>
          <p:nvPr/>
        </p:nvSpPr>
        <p:spPr>
          <a:xfrm>
            <a:off x="8321040" y="1837944"/>
            <a:ext cx="2880360" cy="5486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lang="en-US" sz="1600" b="0" dirty="0">
                <a:solidFill>
                  <a:srgbClr val="1E293B"/>
                </a:solidFill>
                <a:latin typeface="Calibri"/>
              </a:rPr>
              <a:t>50% / 50% split</a:t>
            </a:r>
          </a:p>
        </p:txBody>
      </p:sp>
      <p:sp>
        <p:nvSpPr>
          <p:cNvPr id="103" name="Card 103"/>
          <p:cNvSpPr/>
          <p:nvPr/>
        </p:nvSpPr>
        <p:spPr>
          <a:xfrm>
            <a:off x="8138160" y="2560320"/>
            <a:ext cx="3246120" cy="1005840"/>
          </a:xfrm>
          <a:prstGeom prst="roundRect">
            <a:avLst/>
          </a:prstGeom>
          <a:solidFill>
            <a:srgbClr val="DCEEF5"/>
          </a:solidFill>
          <a:ln w="19050">
            <a:solidFill>
              <a:srgbClr val="2E86A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4" name="TextBox 104"/>
          <p:cNvSpPr txBox="1"/>
          <p:nvPr/>
        </p:nvSpPr>
        <p:spPr>
          <a:xfrm>
            <a:off x="8321040" y="2651760"/>
            <a:ext cx="288036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lang="en-US" sz="1600" b="1" dirty="0">
                <a:solidFill>
                  <a:srgbClr val="2E86AB"/>
                </a:solidFill>
                <a:latin typeface="Calibri"/>
              </a:rPr>
              <a:t>30–39</a:t>
            </a:r>
          </a:p>
        </p:txBody>
      </p:sp>
      <p:sp>
        <p:nvSpPr>
          <p:cNvPr id="105" name="TextBox 105"/>
          <p:cNvSpPr txBox="1"/>
          <p:nvPr/>
        </p:nvSpPr>
        <p:spPr>
          <a:xfrm>
            <a:off x="8321040" y="2980944"/>
            <a:ext cx="2880360" cy="5486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lang="en-US" sz="1600" b="0" dirty="0">
                <a:solidFill>
                  <a:srgbClr val="1E293B"/>
                </a:solidFill>
                <a:latin typeface="Calibri"/>
              </a:rPr>
              <a:t>57.1% Sleep Apnea</a:t>
            </a:r>
          </a:p>
        </p:txBody>
      </p:sp>
      <p:sp>
        <p:nvSpPr>
          <p:cNvPr id="106" name="Card 106"/>
          <p:cNvSpPr/>
          <p:nvPr/>
        </p:nvSpPr>
        <p:spPr>
          <a:xfrm>
            <a:off x="8138160" y="3703320"/>
            <a:ext cx="3246120" cy="1005840"/>
          </a:xfrm>
          <a:prstGeom prst="roundRect">
            <a:avLst/>
          </a:prstGeom>
          <a:solidFill>
            <a:srgbClr val="FBE3D3"/>
          </a:solidFill>
          <a:ln w="19050">
            <a:solidFill>
              <a:srgbClr val="D971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7" name="TextBox 107"/>
          <p:cNvSpPr txBox="1"/>
          <p:nvPr/>
        </p:nvSpPr>
        <p:spPr>
          <a:xfrm>
            <a:off x="8321040" y="3794760"/>
            <a:ext cx="288036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lang="en-US" sz="1600" b="1" dirty="0">
                <a:solidFill>
                  <a:srgbClr val="D9714A"/>
                </a:solidFill>
                <a:latin typeface="Calibri"/>
              </a:rPr>
              <a:t>40–49</a:t>
            </a:r>
          </a:p>
        </p:txBody>
      </p:sp>
      <p:sp>
        <p:nvSpPr>
          <p:cNvPr id="108" name="TextBox 108"/>
          <p:cNvSpPr txBox="1"/>
          <p:nvPr/>
        </p:nvSpPr>
        <p:spPr>
          <a:xfrm>
            <a:off x="8321040" y="4123944"/>
            <a:ext cx="2880360" cy="5486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lang="en-US" sz="1600" b="0" dirty="0">
                <a:solidFill>
                  <a:srgbClr val="1E293B"/>
                </a:solidFill>
                <a:latin typeface="Calibri"/>
              </a:rPr>
              <a:t>66.7% Insomnia</a:t>
            </a:r>
          </a:p>
        </p:txBody>
      </p:sp>
      <p:sp>
        <p:nvSpPr>
          <p:cNvPr id="109" name="Card 109"/>
          <p:cNvSpPr/>
          <p:nvPr/>
        </p:nvSpPr>
        <p:spPr>
          <a:xfrm>
            <a:off x="8138160" y="4846320"/>
            <a:ext cx="3246120" cy="1005840"/>
          </a:xfrm>
          <a:prstGeom prst="roundRect">
            <a:avLst/>
          </a:prstGeom>
          <a:solidFill>
            <a:srgbClr val="DCEEF5"/>
          </a:solidFill>
          <a:ln w="19050">
            <a:solidFill>
              <a:srgbClr val="2E86A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0" name="TextBox 110"/>
          <p:cNvSpPr txBox="1"/>
          <p:nvPr/>
        </p:nvSpPr>
        <p:spPr>
          <a:xfrm>
            <a:off x="8321040" y="4937760"/>
            <a:ext cx="288036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lang="en-US" sz="1600" b="1" dirty="0">
                <a:solidFill>
                  <a:srgbClr val="2E86AB"/>
                </a:solidFill>
                <a:latin typeface="Calibri"/>
              </a:rPr>
              <a:t>50</a:t>
            </a:r>
            <a:r>
              <a:rPr lang="en-US" sz="1500" b="1" dirty="0">
                <a:solidFill>
                  <a:srgbClr val="2E86AB"/>
                </a:solidFill>
                <a:latin typeface="Calibri"/>
              </a:rPr>
              <a:t>+</a:t>
            </a:r>
          </a:p>
        </p:txBody>
      </p:sp>
      <p:sp>
        <p:nvSpPr>
          <p:cNvPr id="111" name="TextBox 111"/>
          <p:cNvSpPr txBox="1"/>
          <p:nvPr/>
        </p:nvSpPr>
        <p:spPr>
          <a:xfrm>
            <a:off x="8321040" y="5266944"/>
            <a:ext cx="2880360" cy="5486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lang="en-US" sz="1600" b="0" dirty="0">
                <a:solidFill>
                  <a:srgbClr val="1E293B"/>
                </a:solidFill>
                <a:latin typeface="Calibri"/>
              </a:rPr>
              <a:t>73.3% Sleep Apnea</a:t>
            </a:r>
          </a:p>
        </p:txBody>
      </p:sp>
      <p:sp>
        <p:nvSpPr>
          <p:cNvPr id="6" name="Rectangle 5"/>
          <p:cNvSpPr/>
          <p:nvPr/>
        </p:nvSpPr>
        <p:spPr>
          <a:xfrm>
            <a:off x="1203960" y="6170843"/>
            <a:ext cx="9218334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312E81"/>
                </a:solidFill>
                <a:latin typeface="Aptos"/>
              </a:defRPr>
            </a:pPr>
            <a:r>
              <a:rPr lang="en-US" sz="1600" b="1" dirty="0">
                <a:solidFill>
                  <a:schemeClr val="tx1">
                    <a:lumMod val="85000"/>
                    <a:lumOff val="15000"/>
                  </a:schemeClr>
                </a:solidFill>
              </a:rPr>
              <a:t>Insight: The 50+ group has the highest Sleep Apnea share, while ages 40–49 show more Insomnia.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F3EDFB"/>
            </a:gs>
            <a:gs pos="50000">
              <a:srgbClr val="E9F2FA"/>
            </a:gs>
            <a:gs pos="100000">
              <a:srgbClr val="FDEEE4"/>
            </a:gs>
          </a:gsLst>
          <a:lin ang="27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47472"/>
            <a:ext cx="109728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700" b="1">
                <a:solidFill>
                  <a:srgbClr val="1E293B"/>
                </a:solidFill>
                <a:latin typeface="Calibri"/>
              </a:rPr>
              <a:t>Cardiovascular Measurements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868680"/>
            <a:ext cx="10789920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64748B"/>
                </a:solidFill>
                <a:latin typeface="Calibri"/>
              </a:rPr>
              <a:t>Average blood-pressure values are higher in the Sleep Apnea group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201400" y="6473952"/>
            <a:ext cx="45720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1">
                <a:solidFill>
                  <a:srgbClr val="64748B"/>
                </a:solidFill>
                <a:latin typeface="Calibri"/>
              </a:rPr>
              <a:t>16</a:t>
            </a:r>
          </a:p>
        </p:txBody>
      </p:sp>
      <p:graphicFrame>
        <p:nvGraphicFramePr>
          <p:cNvPr id="5" name="Chart 4"/>
          <p:cNvGraphicFramePr>
            <a:graphicFrameLocks noGrp="1"/>
          </p:cNvGraphicFramePr>
          <p:nvPr/>
        </p:nvGraphicFramePr>
        <p:xfrm>
          <a:off x="594360" y="1280160"/>
          <a:ext cx="6675120" cy="4572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100" name="Card 100"/>
          <p:cNvSpPr/>
          <p:nvPr/>
        </p:nvSpPr>
        <p:spPr>
          <a:xfrm>
            <a:off x="7635240" y="1417320"/>
            <a:ext cx="3657600" cy="1371600"/>
          </a:xfrm>
          <a:prstGeom prst="roundRect">
            <a:avLst/>
          </a:prstGeom>
          <a:solidFill>
            <a:srgbClr val="FBE3D3"/>
          </a:solidFill>
          <a:ln w="19050">
            <a:solidFill>
              <a:srgbClr val="D971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1" name="TextBox 101"/>
          <p:cNvSpPr txBox="1"/>
          <p:nvPr/>
        </p:nvSpPr>
        <p:spPr>
          <a:xfrm>
            <a:off x="7818120" y="1508760"/>
            <a:ext cx="329184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lang="en-US" sz="1500" b="1">
                <a:solidFill>
                  <a:srgbClr val="D9714A"/>
                </a:solidFill>
                <a:latin typeface="Calibri"/>
              </a:rPr>
              <a:t>INSOMNIA</a:t>
            </a:r>
          </a:p>
        </p:txBody>
      </p:sp>
      <p:sp>
        <p:nvSpPr>
          <p:cNvPr id="102" name="TextBox 102"/>
          <p:cNvSpPr txBox="1"/>
          <p:nvPr/>
        </p:nvSpPr>
        <p:spPr>
          <a:xfrm>
            <a:off x="7818120" y="1837944"/>
            <a:ext cx="3291840" cy="9144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lang="en-US" sz="1600" b="0" dirty="0">
                <a:solidFill>
                  <a:srgbClr val="1E293B"/>
                </a:solidFill>
                <a:latin typeface="Calibri"/>
              </a:rPr>
              <a:t>Higher BP 131.72</a:t>
            </a:r>
          </a:p>
          <a:p>
            <a:pPr algn="l"/>
            <a:r>
              <a:rPr lang="en-US" sz="1600" b="0" dirty="0">
                <a:solidFill>
                  <a:srgbClr val="1E293B"/>
                </a:solidFill>
                <a:latin typeface="Calibri"/>
              </a:rPr>
              <a:t>Lower BP 86.41</a:t>
            </a:r>
          </a:p>
        </p:txBody>
      </p:sp>
      <p:sp>
        <p:nvSpPr>
          <p:cNvPr id="103" name="Card 103"/>
          <p:cNvSpPr/>
          <p:nvPr/>
        </p:nvSpPr>
        <p:spPr>
          <a:xfrm>
            <a:off x="7635240" y="2926080"/>
            <a:ext cx="3657600" cy="1371600"/>
          </a:xfrm>
          <a:prstGeom prst="roundRect">
            <a:avLst/>
          </a:prstGeom>
          <a:solidFill>
            <a:srgbClr val="DCEEF5"/>
          </a:solidFill>
          <a:ln w="19050">
            <a:solidFill>
              <a:srgbClr val="2E86A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4" name="TextBox 104"/>
          <p:cNvSpPr txBox="1"/>
          <p:nvPr/>
        </p:nvSpPr>
        <p:spPr>
          <a:xfrm>
            <a:off x="7818120" y="3017520"/>
            <a:ext cx="329184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lang="en-US" sz="1500" b="1">
                <a:solidFill>
                  <a:srgbClr val="2E86AB"/>
                </a:solidFill>
                <a:latin typeface="Calibri"/>
              </a:rPr>
              <a:t>SLEEP APNEA</a:t>
            </a:r>
          </a:p>
        </p:txBody>
      </p:sp>
      <p:sp>
        <p:nvSpPr>
          <p:cNvPr id="105" name="TextBox 105"/>
          <p:cNvSpPr txBox="1"/>
          <p:nvPr/>
        </p:nvSpPr>
        <p:spPr>
          <a:xfrm>
            <a:off x="7818120" y="3368522"/>
            <a:ext cx="3291840" cy="9144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lang="en-US" sz="1600" b="0" dirty="0">
                <a:solidFill>
                  <a:srgbClr val="1E293B"/>
                </a:solidFill>
                <a:latin typeface="Calibri"/>
              </a:rPr>
              <a:t>Higher BP 134.87</a:t>
            </a:r>
          </a:p>
          <a:p>
            <a:pPr algn="l"/>
            <a:r>
              <a:rPr lang="en-US" sz="1600" b="0" dirty="0">
                <a:solidFill>
                  <a:srgbClr val="1E293B"/>
                </a:solidFill>
                <a:latin typeface="Calibri"/>
              </a:rPr>
              <a:t>Lower BP 90.00</a:t>
            </a:r>
          </a:p>
        </p:txBody>
      </p:sp>
      <p:sp>
        <p:nvSpPr>
          <p:cNvPr id="6" name="Rectangle 5"/>
          <p:cNvSpPr/>
          <p:nvPr/>
        </p:nvSpPr>
        <p:spPr>
          <a:xfrm>
            <a:off x="1368489" y="5989320"/>
            <a:ext cx="9483013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600" b="1" dirty="0">
                <a:solidFill>
                  <a:srgbClr val="1E293B"/>
                </a:solidFill>
              </a:rPr>
              <a:t>Insights: Sleep Apnea is higher on both readings: Higher BP +3.15 and Lower BP +3.59 vs Insomnia.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F3EDFB"/>
            </a:gs>
            <a:gs pos="50000">
              <a:srgbClr val="E9F2FA"/>
            </a:gs>
            <a:gs pos="100000">
              <a:srgbClr val="FDEEE4"/>
            </a:gs>
          </a:gsLst>
          <a:lin ang="27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47472"/>
            <a:ext cx="109728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700" b="1">
                <a:solidFill>
                  <a:srgbClr val="1E293B"/>
                </a:solidFill>
                <a:latin typeface="Calibri"/>
              </a:rPr>
              <a:t>Heart Rate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868680"/>
            <a:ext cx="10789920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64748B"/>
                </a:solidFill>
                <a:latin typeface="Calibri"/>
              </a:rPr>
              <a:t>Sleep Apnea records have the higher average heart rate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201400" y="6473952"/>
            <a:ext cx="45720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1">
                <a:solidFill>
                  <a:srgbClr val="64748B"/>
                </a:solidFill>
                <a:latin typeface="Calibri"/>
              </a:rPr>
              <a:t>17</a:t>
            </a:r>
          </a:p>
        </p:txBody>
      </p:sp>
      <p:graphicFrame>
        <p:nvGraphicFramePr>
          <p:cNvPr id="5" name="Chart 4"/>
          <p:cNvGraphicFramePr>
            <a:graphicFrameLocks noGrp="1"/>
          </p:cNvGraphicFramePr>
          <p:nvPr/>
        </p:nvGraphicFramePr>
        <p:xfrm>
          <a:off x="1005840" y="1371600"/>
          <a:ext cx="6217920" cy="43891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6" name="Rounded Rectangle 5"/>
          <p:cNvSpPr/>
          <p:nvPr/>
        </p:nvSpPr>
        <p:spPr>
          <a:xfrm>
            <a:off x="7635240" y="1554480"/>
            <a:ext cx="3657600" cy="1417320"/>
          </a:xfrm>
          <a:prstGeom prst="roundRect">
            <a:avLst/>
          </a:prstGeom>
          <a:solidFill>
            <a:srgbClr val="FBE3D3"/>
          </a:solidFill>
          <a:ln w="19050">
            <a:solidFill>
              <a:srgbClr val="D971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836408" y="1719072"/>
            <a:ext cx="3255264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D9714A"/>
                </a:solidFill>
                <a:latin typeface="Calibri"/>
              </a:rPr>
              <a:t>INSOMNIA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836408" y="2121408"/>
            <a:ext cx="3255264" cy="33855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0" dirty="0">
                <a:solidFill>
                  <a:srgbClr val="1E293B"/>
                </a:solidFill>
                <a:latin typeface="Calibri"/>
              </a:rPr>
              <a:t>72.21 bpm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635240" y="3291840"/>
            <a:ext cx="3657600" cy="1417320"/>
          </a:xfrm>
          <a:prstGeom prst="roundRect">
            <a:avLst/>
          </a:prstGeom>
          <a:solidFill>
            <a:srgbClr val="DCEEF5"/>
          </a:solidFill>
          <a:ln w="19050">
            <a:solidFill>
              <a:srgbClr val="2E86A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7836408" y="3456432"/>
            <a:ext cx="3255264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2E86AB"/>
                </a:solidFill>
                <a:latin typeface="Calibri"/>
              </a:rPr>
              <a:t>SLEEP APNEA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836408" y="3858768"/>
            <a:ext cx="3255264" cy="33855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0" dirty="0">
                <a:solidFill>
                  <a:srgbClr val="1E293B"/>
                </a:solidFill>
                <a:latin typeface="Calibri"/>
              </a:rPr>
              <a:t>74.27 bpm</a:t>
            </a:r>
          </a:p>
        </p:txBody>
      </p:sp>
      <p:sp>
        <p:nvSpPr>
          <p:cNvPr id="16" name="TextBox 107"/>
          <p:cNvSpPr txBox="1"/>
          <p:nvPr/>
        </p:nvSpPr>
        <p:spPr>
          <a:xfrm>
            <a:off x="7799832" y="5032904"/>
            <a:ext cx="329184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endParaRPr lang="en-US" sz="1500" b="1" dirty="0">
              <a:solidFill>
                <a:srgbClr val="E8AA42"/>
              </a:solidFill>
              <a:latin typeface="Calibri"/>
            </a:endParaRPr>
          </a:p>
        </p:txBody>
      </p:sp>
      <p:sp>
        <p:nvSpPr>
          <p:cNvPr id="18" name="Rectangle 17"/>
          <p:cNvSpPr/>
          <p:nvPr/>
        </p:nvSpPr>
        <p:spPr>
          <a:xfrm>
            <a:off x="1073021" y="5989898"/>
            <a:ext cx="9731828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600" b="1" dirty="0"/>
              <a:t>Insights : Average heart rate is slightly higher for Sleep Apnea (74.27 bpm) than Insomnia (72.21 bpm).</a:t>
            </a:r>
            <a:endParaRPr lang="en-US" sz="1600" b="1" dirty="0">
              <a:solidFill>
                <a:srgbClr val="1E293B"/>
              </a:solidFill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F3EDFB"/>
            </a:gs>
            <a:gs pos="50000">
              <a:srgbClr val="E9F2FA"/>
            </a:gs>
            <a:gs pos="100000">
              <a:srgbClr val="FDEEE4"/>
            </a:gs>
          </a:gsLst>
          <a:lin ang="27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47472"/>
            <a:ext cx="109728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700" b="1">
                <a:solidFill>
                  <a:srgbClr val="1E293B"/>
                </a:solidFill>
                <a:latin typeface="Calibri"/>
              </a:rPr>
              <a:t>Stress vs. Sleep Quality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868680"/>
            <a:ext cx="10789920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64748B"/>
                </a:solidFill>
                <a:latin typeface="Calibri"/>
              </a:rPr>
              <a:t>As stress rises, sleep quality falls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201400" y="6473952"/>
            <a:ext cx="45720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1">
                <a:solidFill>
                  <a:srgbClr val="64748B"/>
                </a:solidFill>
                <a:latin typeface="Calibri"/>
              </a:rPr>
              <a:t>18</a:t>
            </a:r>
          </a:p>
        </p:txBody>
      </p:sp>
      <p:pic>
        <p:nvPicPr>
          <p:cNvPr id="5" name="Stress vs Sleep Quality Chart" descr="Line chart: average sleep quality falls from 9.0 at stress level 3 to 5.57 at stress level 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1463040"/>
            <a:ext cx="7406640" cy="3869800"/>
          </a:xfrm>
          <a:prstGeom prst="rect">
            <a:avLst/>
          </a:prstGeom>
          <a:ln w="12700">
            <a:solidFill>
              <a:srgbClr val="E5DED3"/>
            </a:solidFill>
          </a:ln>
        </p:spPr>
      </p:pic>
      <p:sp>
        <p:nvSpPr>
          <p:cNvPr id="6" name="Card 6"/>
          <p:cNvSpPr/>
          <p:nvPr/>
        </p:nvSpPr>
        <p:spPr>
          <a:xfrm>
            <a:off x="8183879" y="1463040"/>
            <a:ext cx="3154680" cy="1188720"/>
          </a:xfrm>
          <a:prstGeom prst="roundRect">
            <a:avLst/>
          </a:prstGeom>
          <a:solidFill>
            <a:srgbClr val="FBEFD3"/>
          </a:solidFill>
          <a:ln w="19050">
            <a:solidFill>
              <a:srgbClr val="C98A1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TextBox 7"/>
          <p:cNvSpPr txBox="1"/>
          <p:nvPr/>
        </p:nvSpPr>
        <p:spPr>
          <a:xfrm>
            <a:off x="8385048" y="1572768"/>
            <a:ext cx="2752344" cy="32004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/>
            <a:r>
              <a:rPr lang="en-US" sz="1500" b="1">
                <a:solidFill>
                  <a:srgbClr val="C98A1E"/>
                </a:solidFill>
                <a:latin typeface="Calibri"/>
              </a:rPr>
              <a:t>BIG DROP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8385048" y="1920240"/>
            <a:ext cx="2752344" cy="640080"/>
          </a:xfrm>
          <a:prstGeom prst="rect">
            <a:avLst/>
          </a:prstGeom>
          <a:noFill/>
        </p:spPr>
        <p:txBody>
          <a:bodyPr wrap="square" anchor="t">
            <a:normAutofit fontScale="92500" lnSpcReduction="10000"/>
          </a:bodyPr>
          <a:lstStyle/>
          <a:p>
            <a:pPr algn="l"/>
            <a:r>
              <a:rPr lang="en-US" sz="1400" b="0" dirty="0">
                <a:solidFill>
                  <a:srgbClr val="1E293B"/>
                </a:solidFill>
                <a:latin typeface="Calibri"/>
              </a:rPr>
              <a:t>Sleep quality falls from 9.0 to 5.6 as stress goes from 3 to 8 (−3.4 points).</a:t>
            </a:r>
          </a:p>
          <a:p>
            <a:pPr algn="l"/>
            <a:r>
              <a:rPr lang="en-US" sz="1400" dirty="0">
                <a:solidFill>
                  <a:srgbClr val="1E293B"/>
                </a:solidFill>
                <a:latin typeface="Calibri"/>
              </a:rPr>
              <a:t>Correlation </a:t>
            </a:r>
            <a:endParaRPr lang="en-US" sz="1400" b="0" dirty="0">
              <a:solidFill>
                <a:srgbClr val="1E293B"/>
              </a:solidFill>
              <a:latin typeface="Calibri"/>
            </a:endParaRPr>
          </a:p>
        </p:txBody>
      </p:sp>
      <p:sp>
        <p:nvSpPr>
          <p:cNvPr id="9" name="Card 9"/>
          <p:cNvSpPr/>
          <p:nvPr/>
        </p:nvSpPr>
        <p:spPr>
          <a:xfrm>
            <a:off x="8183879" y="2834640"/>
            <a:ext cx="3154680" cy="1188720"/>
          </a:xfrm>
          <a:prstGeom prst="roundRect">
            <a:avLst/>
          </a:prstGeom>
          <a:solidFill>
            <a:srgbClr val="FBE3D3"/>
          </a:solidFill>
          <a:ln w="19050">
            <a:solidFill>
              <a:srgbClr val="D971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TextBox 10"/>
          <p:cNvSpPr txBox="1"/>
          <p:nvPr/>
        </p:nvSpPr>
        <p:spPr>
          <a:xfrm>
            <a:off x="8385048" y="2944368"/>
            <a:ext cx="2752344" cy="32004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/>
            <a:r>
              <a:rPr lang="en-US" sz="1500" b="1">
                <a:solidFill>
                  <a:srgbClr val="D9714A"/>
                </a:solidFill>
                <a:latin typeface="Calibri"/>
              </a:rPr>
              <a:t>TIPPING POINT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8385048" y="3291840"/>
            <a:ext cx="2752344" cy="64008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/>
            <a:r>
              <a:rPr lang="en-US" sz="1400" b="0">
                <a:solidFill>
                  <a:srgbClr val="1E293B"/>
                </a:solidFill>
                <a:latin typeface="Calibri"/>
              </a:rPr>
              <a:t>Above stress 6, quality falls under 6 at levels 7 and 8.</a:t>
            </a:r>
          </a:p>
        </p:txBody>
      </p:sp>
      <p:sp>
        <p:nvSpPr>
          <p:cNvPr id="12" name="Card 12"/>
          <p:cNvSpPr/>
          <p:nvPr/>
        </p:nvSpPr>
        <p:spPr>
          <a:xfrm>
            <a:off x="8183879" y="4206240"/>
            <a:ext cx="3154680" cy="1188720"/>
          </a:xfrm>
          <a:prstGeom prst="roundRect">
            <a:avLst/>
          </a:prstGeom>
          <a:solidFill>
            <a:srgbClr val="DCEEF5"/>
          </a:solidFill>
          <a:ln w="19050">
            <a:solidFill>
              <a:srgbClr val="2E86A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TextBox 13"/>
          <p:cNvSpPr txBox="1"/>
          <p:nvPr/>
        </p:nvSpPr>
        <p:spPr>
          <a:xfrm>
            <a:off x="8385048" y="4315968"/>
            <a:ext cx="2752344" cy="32004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/>
            <a:r>
              <a:rPr lang="en-US" sz="1500" b="1">
                <a:solidFill>
                  <a:srgbClr val="2E86AB"/>
                </a:solidFill>
                <a:latin typeface="Calibri"/>
              </a:rPr>
              <a:t>STEADY TREND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8385048" y="4663440"/>
            <a:ext cx="2752344" cy="64008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/>
            <a:r>
              <a:rPr lang="en-US" sz="1400" b="0">
                <a:solidFill>
                  <a:srgbClr val="1E293B"/>
                </a:solidFill>
                <a:latin typeface="Calibri"/>
              </a:rPr>
              <a:t>Only stress 5 rises slightly (7.50 → 7.62); every other step goes down.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11200" y="5637711"/>
            <a:ext cx="8036560" cy="61555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IN" sz="1600" b="1" dirty="0"/>
              <a:t>Insight: As stress level increases, sleep quality generally decreases, showing a clear negative relationship between stress and sleep quality</a:t>
            </a:r>
            <a:r>
              <a:rPr lang="en-IN" dirty="0"/>
              <a:t>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F3EDFB"/>
            </a:gs>
            <a:gs pos="50000">
              <a:srgbClr val="E9F2FA"/>
            </a:gs>
            <a:gs pos="100000">
              <a:srgbClr val="FDEEE4"/>
            </a:gs>
          </a:gsLst>
          <a:lin ang="27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47472"/>
            <a:ext cx="109728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700" b="1">
                <a:solidFill>
                  <a:srgbClr val="1E293B"/>
                </a:solidFill>
                <a:latin typeface="Calibri"/>
              </a:rPr>
              <a:t>Profile: The Insomnia Pattern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868680"/>
            <a:ext cx="10789920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64748B"/>
                </a:solidFill>
                <a:latin typeface="Calibri"/>
              </a:rPr>
              <a:t>A simple data profile based on the 29 Insomnia records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201400" y="6473952"/>
            <a:ext cx="45720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1">
                <a:solidFill>
                  <a:srgbClr val="64748B"/>
                </a:solidFill>
                <a:latin typeface="Calibri"/>
              </a:rPr>
              <a:t>19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234440"/>
            <a:ext cx="3429000" cy="1828800"/>
          </a:xfrm>
          <a:prstGeom prst="roundRect">
            <a:avLst/>
          </a:prstGeom>
          <a:solidFill>
            <a:srgbClr val="FBE3D3"/>
          </a:solidFill>
          <a:ln w="19050">
            <a:solidFill>
              <a:srgbClr val="D971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841247" y="1399032"/>
            <a:ext cx="3026664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D9714A"/>
                </a:solidFill>
                <a:latin typeface="Calibri"/>
              </a:rPr>
              <a:t>🧠 STRESS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41247" y="1801368"/>
            <a:ext cx="3026664" cy="11155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1E293B"/>
                </a:solidFill>
                <a:latin typeface="Calibri"/>
              </a:rPr>
              <a:t>6.03 / 10</a:t>
            </a:r>
          </a:p>
          <a:p>
            <a:pPr algn="l"/>
            <a:r>
              <a:rPr sz="1600" b="0">
                <a:solidFill>
                  <a:srgbClr val="1E293B"/>
                </a:solidFill>
                <a:latin typeface="Calibri"/>
              </a:rPr>
              <a:t>Higher than Sleep Apnea (5.93)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89120" y="1234440"/>
            <a:ext cx="3429000" cy="1828800"/>
          </a:xfrm>
          <a:prstGeom prst="roundRect">
            <a:avLst/>
          </a:prstGeom>
          <a:solidFill>
            <a:srgbClr val="FBE3D3"/>
          </a:solidFill>
          <a:ln w="19050">
            <a:solidFill>
              <a:srgbClr val="D971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4590288" y="1399032"/>
            <a:ext cx="3026664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D9714A"/>
                </a:solidFill>
                <a:latin typeface="Calibri"/>
              </a:rPr>
              <a:t>😴 SLEEP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90288" y="1801368"/>
            <a:ext cx="3026664" cy="11155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1E293B"/>
                </a:solidFill>
                <a:latin typeface="Calibri"/>
              </a:rPr>
              <a:t>6.68 hours of sleep</a:t>
            </a:r>
          </a:p>
          <a:p>
            <a:pPr algn="l"/>
            <a:r>
              <a:rPr sz="1600" b="0">
                <a:solidFill>
                  <a:srgbClr val="1E293B"/>
                </a:solidFill>
                <a:latin typeface="Calibri"/>
              </a:rPr>
              <a:t>Quality: 6.52 / 10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138160" y="1234440"/>
            <a:ext cx="3429000" cy="1828800"/>
          </a:xfrm>
          <a:prstGeom prst="roundRect">
            <a:avLst/>
          </a:prstGeom>
          <a:solidFill>
            <a:srgbClr val="FBE3D3"/>
          </a:solidFill>
          <a:ln w="19050">
            <a:solidFill>
              <a:srgbClr val="D971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8339328" y="1399032"/>
            <a:ext cx="3026664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D9714A"/>
                </a:solidFill>
                <a:latin typeface="Calibri"/>
              </a:rPr>
              <a:t>👥 PATTERNS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339328" y="1801368"/>
            <a:ext cx="3026664" cy="11155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0">
                <a:solidFill>
                  <a:srgbClr val="1E293B"/>
                </a:solidFill>
                <a:latin typeface="Calibri"/>
              </a:rPr>
              <a:t>More common in Accountants, Software Engineers, Engineers, Salespeople and Teachers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0080" y="3429000"/>
            <a:ext cx="10927080" cy="1463040"/>
          </a:xfrm>
          <a:prstGeom prst="roundRect">
            <a:avLst/>
          </a:prstGeom>
          <a:solidFill>
            <a:srgbClr val="FBEFD3"/>
          </a:solidFill>
          <a:ln w="19050">
            <a:solidFill>
              <a:srgbClr val="E8AA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841247" y="3593592"/>
            <a:ext cx="10525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E8AA42"/>
                </a:solidFill>
                <a:latin typeface="Calibri"/>
              </a:rPr>
              <a:t>IN SHORT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41247" y="3995928"/>
            <a:ext cx="10525000" cy="8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0">
                <a:solidFill>
                  <a:srgbClr val="1E293B"/>
                </a:solidFill>
                <a:latin typeface="Calibri"/>
              </a:rPr>
              <a:t>Insomnia records show higher stress and slightly lower sleep time and quality.</a:t>
            </a:r>
          </a:p>
        </p:txBody>
      </p:sp>
      <p:pic>
        <p:nvPicPr>
          <p:cNvPr id="18" name="Picture 17">
            <a:extLst>
              <a:ext uri="{FF2B5EF4-FFF2-40B4-BE49-F238E27FC236}">
                <a16:creationId xmlns:a16="http://schemas.microsoft.com/office/drawing/2014/main" id="{D8348965-5DAF-863F-31D4-0B127E8E2AD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5008939"/>
            <a:ext cx="2927555" cy="1747183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  <a:reflection blurRad="12700" stA="38000" endPos="28000" dist="5000" dir="5400000" sy="-100000" algn="bl" rotWithShape="0"/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</p:pic>
      <p:sp>
        <p:nvSpPr>
          <p:cNvPr id="19" name="Rectangle: Rounded Corners 18">
            <a:extLst>
              <a:ext uri="{FF2B5EF4-FFF2-40B4-BE49-F238E27FC236}">
                <a16:creationId xmlns:a16="http://schemas.microsoft.com/office/drawing/2014/main" id="{91FD8B0B-B53B-C046-89DC-C81974E6C66F}"/>
              </a:ext>
            </a:extLst>
          </p:cNvPr>
          <p:cNvSpPr/>
          <p:nvPr/>
        </p:nvSpPr>
        <p:spPr>
          <a:xfrm>
            <a:off x="3867911" y="5236354"/>
            <a:ext cx="6471002" cy="1292352"/>
          </a:xfrm>
          <a:prstGeom prst="roundRect">
            <a:avLst/>
          </a:prstGeom>
          <a:blipFill>
            <a:blip r:embed="rId3"/>
            <a:tile tx="0" ty="0" sx="100000" sy="100000" flip="none" algn="tl"/>
          </a:blipFill>
          <a:ln>
            <a:solidFill>
              <a:schemeClr val="accent6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b="1" dirty="0"/>
              <a:t>Insomnia</a:t>
            </a:r>
            <a:r>
              <a:rPr lang="en-IN" dirty="0"/>
              <a:t> is a common sleep disorder that makes it difficult to fall asleep, stay asleep, or wake up too early and be unable to get back to sleep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F3EDFB"/>
            </a:gs>
            <a:gs pos="50000">
              <a:srgbClr val="E9F2FA"/>
            </a:gs>
            <a:gs pos="100000">
              <a:srgbClr val="FDEEE4"/>
            </a:gs>
          </a:gsLst>
          <a:lin ang="27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47472"/>
            <a:ext cx="109728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700" b="1">
                <a:solidFill>
                  <a:srgbClr val="1E293B"/>
                </a:solidFill>
                <a:latin typeface="Calibri"/>
              </a:rPr>
              <a:t>Profile: The Sleep Apnea Pattern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868680"/>
            <a:ext cx="10789920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64748B"/>
                </a:solidFill>
                <a:latin typeface="Calibri"/>
              </a:rPr>
              <a:t>A simple data profile based on the 30 Sleep Apnea records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201400" y="6473952"/>
            <a:ext cx="45720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1">
                <a:solidFill>
                  <a:srgbClr val="64748B"/>
                </a:solidFill>
                <a:latin typeface="Calibri"/>
              </a:rPr>
              <a:t>20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234440"/>
            <a:ext cx="3429000" cy="1828800"/>
          </a:xfrm>
          <a:prstGeom prst="roundRect">
            <a:avLst/>
          </a:prstGeom>
          <a:solidFill>
            <a:srgbClr val="DCEEF5"/>
          </a:solidFill>
          <a:ln w="19050">
            <a:solidFill>
              <a:srgbClr val="2E86A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841247" y="1399032"/>
            <a:ext cx="3026664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2E86AB"/>
                </a:solidFill>
                <a:latin typeface="Calibri"/>
              </a:rPr>
              <a:t>⚙️ HEALTH METRICS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41247" y="1801368"/>
            <a:ext cx="3026664" cy="11155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1E293B"/>
                </a:solidFill>
                <a:latin typeface="Calibri"/>
              </a:rPr>
              <a:t>BP: 134.87 / 90.00</a:t>
            </a:r>
          </a:p>
          <a:p>
            <a:pPr algn="l"/>
            <a:r>
              <a:rPr sz="1600" b="0">
                <a:solidFill>
                  <a:srgbClr val="1E293B"/>
                </a:solidFill>
                <a:latin typeface="Calibri"/>
              </a:rPr>
              <a:t>Heart rate: 74.27 bpm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89120" y="1234440"/>
            <a:ext cx="3429000" cy="1828800"/>
          </a:xfrm>
          <a:prstGeom prst="roundRect">
            <a:avLst/>
          </a:prstGeom>
          <a:solidFill>
            <a:srgbClr val="DCEEF5"/>
          </a:solidFill>
          <a:ln w="19050">
            <a:solidFill>
              <a:srgbClr val="2E86A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4590288" y="1399032"/>
            <a:ext cx="3026664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2E86AB"/>
                </a:solidFill>
                <a:latin typeface="Calibri"/>
              </a:rPr>
              <a:t>👥 DEMOGRAPHICS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90288" y="1801368"/>
            <a:ext cx="3026664" cy="11155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1E293B"/>
                </a:solidFill>
                <a:latin typeface="Calibri"/>
              </a:rPr>
              <a:t>73.3% of the 50+ group</a:t>
            </a:r>
          </a:p>
          <a:p>
            <a:pPr algn="l"/>
            <a:r>
              <a:rPr sz="1600" b="0">
                <a:solidFill>
                  <a:srgbClr val="1E293B"/>
                </a:solidFill>
                <a:latin typeface="Calibri"/>
              </a:rPr>
              <a:t>Also high in Nurses and Scientists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138160" y="1234440"/>
            <a:ext cx="3429000" cy="1828800"/>
          </a:xfrm>
          <a:prstGeom prst="roundRect">
            <a:avLst/>
          </a:prstGeom>
          <a:solidFill>
            <a:srgbClr val="DCEEF5"/>
          </a:solidFill>
          <a:ln w="19050">
            <a:solidFill>
              <a:srgbClr val="2E86A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8339328" y="1399032"/>
            <a:ext cx="3026664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2E86AB"/>
                </a:solidFill>
                <a:latin typeface="Calibri"/>
              </a:rPr>
              <a:t>⚖️ BMI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339328" y="1801368"/>
            <a:ext cx="3026664" cy="11155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0">
                <a:solidFill>
                  <a:srgbClr val="1E293B"/>
                </a:solidFill>
                <a:latin typeface="Calibri"/>
              </a:rPr>
              <a:t>57.1% of the Obese group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0080" y="3429000"/>
            <a:ext cx="10927080" cy="1463040"/>
          </a:xfrm>
          <a:prstGeom prst="roundRect">
            <a:avLst/>
          </a:prstGeom>
          <a:solidFill>
            <a:srgbClr val="FBEFD3"/>
          </a:solidFill>
          <a:ln w="19050">
            <a:solidFill>
              <a:srgbClr val="E8AA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841247" y="3593592"/>
            <a:ext cx="10525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E8AA42"/>
                </a:solidFill>
                <a:latin typeface="Calibri"/>
              </a:rPr>
              <a:t>IN SHORT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41247" y="3995928"/>
            <a:ext cx="10525000" cy="8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0">
                <a:solidFill>
                  <a:srgbClr val="1E293B"/>
                </a:solidFill>
                <a:latin typeface="Calibri"/>
              </a:rPr>
              <a:t>Sleep Apnea records show higher blood pressure and heart rate, and appear more in older and obese groups.</a:t>
            </a:r>
          </a:p>
        </p:txBody>
      </p:sp>
      <p:pic>
        <p:nvPicPr>
          <p:cNvPr id="21" name="Picture 20">
            <a:extLst>
              <a:ext uri="{FF2B5EF4-FFF2-40B4-BE49-F238E27FC236}">
                <a16:creationId xmlns:a16="http://schemas.microsoft.com/office/drawing/2014/main" id="{EE49A209-4DF1-E8D6-84C2-760FE37A660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0283" y="5056632"/>
            <a:ext cx="3628837" cy="1572255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  <a:reflection blurRad="12700" stA="38000" endPos="28000" dist="5000" dir="5400000" sy="-100000" algn="bl" rotWithShape="0"/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</p:pic>
      <p:sp>
        <p:nvSpPr>
          <p:cNvPr id="24" name="Rectangle: Rounded Corners 23">
            <a:extLst>
              <a:ext uri="{FF2B5EF4-FFF2-40B4-BE49-F238E27FC236}">
                <a16:creationId xmlns:a16="http://schemas.microsoft.com/office/drawing/2014/main" id="{DED1E4F8-35AB-EB0D-340B-7D957F707D11}"/>
              </a:ext>
            </a:extLst>
          </p:cNvPr>
          <p:cNvSpPr/>
          <p:nvPr/>
        </p:nvSpPr>
        <p:spPr>
          <a:xfrm>
            <a:off x="4768646" y="5129784"/>
            <a:ext cx="5869858" cy="1302184"/>
          </a:xfrm>
          <a:prstGeom prst="roundRect">
            <a:avLst/>
          </a:prstGeom>
          <a:blipFill>
            <a:blip r:embed="rId3"/>
            <a:tile tx="0" ty="0" sx="100000" sy="100000" flip="none" algn="tl"/>
          </a:blipFill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b="1"/>
              <a:t>Sleep apnea</a:t>
            </a:r>
            <a:r>
              <a:rPr lang="en-IN"/>
              <a:t> is a potentially serious sleep disorder where breathing repeatedly stops and starts throughout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F3EDFB"/>
            </a:gs>
            <a:gs pos="50000">
              <a:srgbClr val="E9F2FA"/>
            </a:gs>
            <a:gs pos="100000">
              <a:srgbClr val="FDEEE4"/>
            </a:gs>
          </a:gsLst>
          <a:lin ang="27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47472"/>
            <a:ext cx="109728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700" b="1">
                <a:solidFill>
                  <a:srgbClr val="1E293B"/>
                </a:solidFill>
                <a:latin typeface="Calibri"/>
              </a:rPr>
              <a:t>Key Data Insights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868680"/>
            <a:ext cx="10789920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64748B"/>
                </a:solidFill>
                <a:latin typeface="Calibri"/>
              </a:rPr>
              <a:t>What the charts tell us about Insomnia vs Sleep Apnea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201400" y="6473952"/>
            <a:ext cx="45720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1">
                <a:solidFill>
                  <a:srgbClr val="64748B"/>
                </a:solidFill>
                <a:latin typeface="Calibri"/>
              </a:rPr>
              <a:t>21</a:t>
            </a:r>
          </a:p>
        </p:txBody>
      </p:sp>
      <p:sp>
        <p:nvSpPr>
          <p:cNvPr id="100" name="Card 100"/>
          <p:cNvSpPr/>
          <p:nvPr/>
        </p:nvSpPr>
        <p:spPr>
          <a:xfrm>
            <a:off x="640080" y="1417320"/>
            <a:ext cx="2590800" cy="2148840"/>
          </a:xfrm>
          <a:prstGeom prst="roundRect">
            <a:avLst/>
          </a:prstGeom>
          <a:solidFill>
            <a:srgbClr val="DCEEF5"/>
          </a:solidFill>
          <a:ln w="19050">
            <a:solidFill>
              <a:srgbClr val="2E86A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1" name="TextBox 101"/>
          <p:cNvSpPr txBox="1"/>
          <p:nvPr/>
        </p:nvSpPr>
        <p:spPr>
          <a:xfrm>
            <a:off x="822960" y="1508760"/>
            <a:ext cx="222504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lang="en-US" sz="1300" b="1">
                <a:solidFill>
                  <a:srgbClr val="2E86AB"/>
                </a:solidFill>
                <a:latin typeface="Calibri"/>
              </a:rPr>
              <a:t>DISORDER DISTRIBUTION</a:t>
            </a:r>
          </a:p>
        </p:txBody>
      </p:sp>
      <p:sp>
        <p:nvSpPr>
          <p:cNvPr id="102" name="TextBox 102"/>
          <p:cNvSpPr txBox="1"/>
          <p:nvPr/>
        </p:nvSpPr>
        <p:spPr>
          <a:xfrm>
            <a:off x="822960" y="1837944"/>
            <a:ext cx="2225040" cy="16916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lang="en-US" sz="1500" b="0">
                <a:solidFill>
                  <a:srgbClr val="1E293B"/>
                </a:solidFill>
                <a:latin typeface="Calibri"/>
              </a:rPr>
              <a:t>Almost equally divided: 29 Insomnia (49.2%) and 30 Sleep Apnea (50.8%).</a:t>
            </a:r>
          </a:p>
        </p:txBody>
      </p:sp>
      <p:sp>
        <p:nvSpPr>
          <p:cNvPr id="103" name="Card 103"/>
          <p:cNvSpPr/>
          <p:nvPr/>
        </p:nvSpPr>
        <p:spPr>
          <a:xfrm>
            <a:off x="3413760" y="1417320"/>
            <a:ext cx="2590800" cy="2148840"/>
          </a:xfrm>
          <a:prstGeom prst="roundRect">
            <a:avLst/>
          </a:prstGeom>
          <a:solidFill>
            <a:srgbClr val="FBE3D3"/>
          </a:solidFill>
          <a:ln w="19050">
            <a:solidFill>
              <a:srgbClr val="D971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4" name="TextBox 104"/>
          <p:cNvSpPr txBox="1"/>
          <p:nvPr/>
        </p:nvSpPr>
        <p:spPr>
          <a:xfrm>
            <a:off x="3596640" y="1508760"/>
            <a:ext cx="222504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lang="en-US" sz="1300" b="1">
                <a:solidFill>
                  <a:srgbClr val="D9714A"/>
                </a:solidFill>
                <a:latin typeface="Calibri"/>
              </a:rPr>
              <a:t>SLEEP DURATION &amp; QUALITY</a:t>
            </a:r>
          </a:p>
        </p:txBody>
      </p:sp>
      <p:sp>
        <p:nvSpPr>
          <p:cNvPr id="105" name="TextBox 105"/>
          <p:cNvSpPr txBox="1"/>
          <p:nvPr/>
        </p:nvSpPr>
        <p:spPr>
          <a:xfrm>
            <a:off x="3596640" y="1837944"/>
            <a:ext cx="2225040" cy="16916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lang="en-US" sz="1500" b="0">
                <a:solidFill>
                  <a:srgbClr val="1E293B"/>
                </a:solidFill>
                <a:latin typeface="Calibri"/>
              </a:rPr>
              <a:t>Insomnia is slightly lower: 6.68 hrs and 6.52/10 vs Sleep Apnea 6.94 hrs and 6.87/10.</a:t>
            </a:r>
          </a:p>
        </p:txBody>
      </p:sp>
      <p:sp>
        <p:nvSpPr>
          <p:cNvPr id="106" name="Card 106"/>
          <p:cNvSpPr/>
          <p:nvPr/>
        </p:nvSpPr>
        <p:spPr>
          <a:xfrm>
            <a:off x="6187440" y="1417320"/>
            <a:ext cx="2590800" cy="2148840"/>
          </a:xfrm>
          <a:prstGeom prst="roundRect">
            <a:avLst/>
          </a:prstGeom>
          <a:solidFill>
            <a:srgbClr val="FBEFD3"/>
          </a:solidFill>
          <a:ln w="19050">
            <a:solidFill>
              <a:srgbClr val="E8AA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7" name="TextBox 107"/>
          <p:cNvSpPr txBox="1"/>
          <p:nvPr/>
        </p:nvSpPr>
        <p:spPr>
          <a:xfrm>
            <a:off x="6370320" y="1508760"/>
            <a:ext cx="222504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lang="en-US" sz="1300" b="1">
                <a:solidFill>
                  <a:srgbClr val="E8AA42"/>
                </a:solidFill>
                <a:latin typeface="Calibri"/>
              </a:rPr>
              <a:t>STRESS LEVEL</a:t>
            </a:r>
          </a:p>
        </p:txBody>
      </p:sp>
      <p:sp>
        <p:nvSpPr>
          <p:cNvPr id="108" name="TextBox 108"/>
          <p:cNvSpPr txBox="1"/>
          <p:nvPr/>
        </p:nvSpPr>
        <p:spPr>
          <a:xfrm>
            <a:off x="6370320" y="1837944"/>
            <a:ext cx="2225040" cy="16916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lang="en-US" sz="1500" b="0">
                <a:solidFill>
                  <a:srgbClr val="1E293B"/>
                </a:solidFill>
                <a:latin typeface="Calibri"/>
              </a:rPr>
              <a:t>Insomnia has slightly higher stress: 6.03/10 vs 5.93/10 for Sleep Apnea.</a:t>
            </a:r>
          </a:p>
        </p:txBody>
      </p:sp>
      <p:sp>
        <p:nvSpPr>
          <p:cNvPr id="109" name="Card 109"/>
          <p:cNvSpPr/>
          <p:nvPr/>
        </p:nvSpPr>
        <p:spPr>
          <a:xfrm>
            <a:off x="8961120" y="1417320"/>
            <a:ext cx="2590800" cy="2148840"/>
          </a:xfrm>
          <a:prstGeom prst="roundRect">
            <a:avLst/>
          </a:prstGeom>
          <a:solidFill>
            <a:srgbClr val="DCEEF5"/>
          </a:solidFill>
          <a:ln w="19050">
            <a:solidFill>
              <a:srgbClr val="2E86A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0" name="TextBox 110"/>
          <p:cNvSpPr txBox="1"/>
          <p:nvPr/>
        </p:nvSpPr>
        <p:spPr>
          <a:xfrm>
            <a:off x="9144000" y="1508760"/>
            <a:ext cx="222504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lang="en-US" sz="1300" b="1">
                <a:solidFill>
                  <a:srgbClr val="2E86AB"/>
                </a:solidFill>
                <a:latin typeface="Calibri"/>
              </a:rPr>
              <a:t>ACTIVITY &amp; STEPS</a:t>
            </a:r>
          </a:p>
        </p:txBody>
      </p:sp>
      <p:sp>
        <p:nvSpPr>
          <p:cNvPr id="111" name="TextBox 111"/>
          <p:cNvSpPr txBox="1"/>
          <p:nvPr/>
        </p:nvSpPr>
        <p:spPr>
          <a:xfrm>
            <a:off x="9144000" y="1837944"/>
            <a:ext cx="2225040" cy="16916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lang="en-US" sz="1500" b="0">
                <a:solidFill>
                  <a:srgbClr val="1E293B"/>
                </a:solidFill>
                <a:latin typeface="Calibri"/>
              </a:rPr>
              <a:t>Sleep Apnea is higher: activity 67.57 and 6,946.67 steps vs 48.10 and 5,755.17.</a:t>
            </a:r>
          </a:p>
        </p:txBody>
      </p:sp>
      <p:sp>
        <p:nvSpPr>
          <p:cNvPr id="112" name="Card 112"/>
          <p:cNvSpPr/>
          <p:nvPr/>
        </p:nvSpPr>
        <p:spPr>
          <a:xfrm>
            <a:off x="640080" y="3794760"/>
            <a:ext cx="2590800" cy="2148840"/>
          </a:xfrm>
          <a:prstGeom prst="roundRect">
            <a:avLst/>
          </a:prstGeom>
          <a:solidFill>
            <a:srgbClr val="FBE3D3"/>
          </a:solidFill>
          <a:ln w="19050">
            <a:solidFill>
              <a:srgbClr val="D971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3" name="TextBox 113"/>
          <p:cNvSpPr txBox="1"/>
          <p:nvPr/>
        </p:nvSpPr>
        <p:spPr>
          <a:xfrm>
            <a:off x="822960" y="3886200"/>
            <a:ext cx="222504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lang="en-US" sz="1300" b="1">
                <a:solidFill>
                  <a:srgbClr val="D9714A"/>
                </a:solidFill>
                <a:latin typeface="Calibri"/>
              </a:rPr>
              <a:t>OCCUPATION</a:t>
            </a:r>
          </a:p>
        </p:txBody>
      </p:sp>
      <p:sp>
        <p:nvSpPr>
          <p:cNvPr id="114" name="TextBox 114"/>
          <p:cNvSpPr txBox="1"/>
          <p:nvPr/>
        </p:nvSpPr>
        <p:spPr>
          <a:xfrm>
            <a:off x="822960" y="4215384"/>
            <a:ext cx="2225040" cy="16916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lang="en-US" sz="1500" b="0">
                <a:solidFill>
                  <a:srgbClr val="1E293B"/>
                </a:solidFill>
                <a:latin typeface="Calibri"/>
              </a:rPr>
              <a:t>Sleep Apnea: Nurses (85%), Scientists (100%). Insomnia: Teachers (72.7%), Salespeople (75%).</a:t>
            </a:r>
          </a:p>
        </p:txBody>
      </p:sp>
      <p:sp>
        <p:nvSpPr>
          <p:cNvPr id="115" name="Card 115"/>
          <p:cNvSpPr/>
          <p:nvPr/>
        </p:nvSpPr>
        <p:spPr>
          <a:xfrm>
            <a:off x="3413760" y="3794760"/>
            <a:ext cx="2590800" cy="2148840"/>
          </a:xfrm>
          <a:prstGeom prst="roundRect">
            <a:avLst/>
          </a:prstGeom>
          <a:solidFill>
            <a:srgbClr val="FBEFD3"/>
          </a:solidFill>
          <a:ln w="19050">
            <a:solidFill>
              <a:srgbClr val="E8AA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6" name="TextBox 116"/>
          <p:cNvSpPr txBox="1"/>
          <p:nvPr/>
        </p:nvSpPr>
        <p:spPr>
          <a:xfrm>
            <a:off x="3596640" y="3886200"/>
            <a:ext cx="222504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lang="en-US" sz="1300" b="1">
                <a:solidFill>
                  <a:srgbClr val="E8AA42"/>
                </a:solidFill>
                <a:latin typeface="Calibri"/>
              </a:rPr>
              <a:t>BMI</a:t>
            </a:r>
          </a:p>
        </p:txBody>
      </p:sp>
      <p:sp>
        <p:nvSpPr>
          <p:cNvPr id="117" name="TextBox 117"/>
          <p:cNvSpPr txBox="1"/>
          <p:nvPr/>
        </p:nvSpPr>
        <p:spPr>
          <a:xfrm>
            <a:off x="3596640" y="4215384"/>
            <a:ext cx="2225040" cy="16916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lang="en-US" sz="1500" b="0">
                <a:solidFill>
                  <a:srgbClr val="1E293B"/>
                </a:solidFill>
                <a:latin typeface="Calibri"/>
              </a:rPr>
              <a:t>Sleep Apnea is higher in the Obese group (57.1%); Insomnia is slightly higher in Normal BMI (53.3%).</a:t>
            </a:r>
          </a:p>
        </p:txBody>
      </p:sp>
      <p:sp>
        <p:nvSpPr>
          <p:cNvPr id="118" name="Card 118"/>
          <p:cNvSpPr/>
          <p:nvPr/>
        </p:nvSpPr>
        <p:spPr>
          <a:xfrm>
            <a:off x="6187440" y="3794760"/>
            <a:ext cx="2590800" cy="2148840"/>
          </a:xfrm>
          <a:prstGeom prst="roundRect">
            <a:avLst/>
          </a:prstGeom>
          <a:solidFill>
            <a:srgbClr val="DCEEF5"/>
          </a:solidFill>
          <a:ln w="19050">
            <a:solidFill>
              <a:srgbClr val="2E86A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9" name="TextBox 119"/>
          <p:cNvSpPr txBox="1"/>
          <p:nvPr/>
        </p:nvSpPr>
        <p:spPr>
          <a:xfrm>
            <a:off x="6370320" y="3886200"/>
            <a:ext cx="222504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lang="en-US" sz="1300" b="1">
                <a:solidFill>
                  <a:srgbClr val="2E86AB"/>
                </a:solidFill>
                <a:latin typeface="Calibri"/>
              </a:rPr>
              <a:t>GENDER</a:t>
            </a:r>
          </a:p>
        </p:txBody>
      </p:sp>
      <p:sp>
        <p:nvSpPr>
          <p:cNvPr id="120" name="TextBox 120"/>
          <p:cNvSpPr txBox="1"/>
          <p:nvPr/>
        </p:nvSpPr>
        <p:spPr>
          <a:xfrm>
            <a:off x="6370320" y="4215384"/>
            <a:ext cx="2225040" cy="16916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lang="en-US" sz="1500" b="0">
                <a:solidFill>
                  <a:srgbClr val="1E293B"/>
                </a:solidFill>
                <a:latin typeface="Calibri"/>
              </a:rPr>
              <a:t>61.8% of female cases are Sleep Apnea; 64% of male cases are Insomnia.</a:t>
            </a:r>
          </a:p>
        </p:txBody>
      </p:sp>
      <p:sp>
        <p:nvSpPr>
          <p:cNvPr id="121" name="Card 121"/>
          <p:cNvSpPr/>
          <p:nvPr/>
        </p:nvSpPr>
        <p:spPr>
          <a:xfrm>
            <a:off x="8961120" y="3794760"/>
            <a:ext cx="2590800" cy="2148840"/>
          </a:xfrm>
          <a:prstGeom prst="roundRect">
            <a:avLst/>
          </a:prstGeom>
          <a:solidFill>
            <a:srgbClr val="FBE3D3"/>
          </a:solidFill>
          <a:ln w="19050">
            <a:solidFill>
              <a:srgbClr val="D971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2" name="TextBox 122"/>
          <p:cNvSpPr txBox="1"/>
          <p:nvPr/>
        </p:nvSpPr>
        <p:spPr>
          <a:xfrm>
            <a:off x="9144000" y="3886200"/>
            <a:ext cx="222504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lang="en-US" sz="1300" b="1">
                <a:solidFill>
                  <a:srgbClr val="D9714A"/>
                </a:solidFill>
                <a:latin typeface="Calibri"/>
              </a:rPr>
              <a:t>AGE</a:t>
            </a:r>
          </a:p>
        </p:txBody>
      </p:sp>
      <p:sp>
        <p:nvSpPr>
          <p:cNvPr id="123" name="TextBox 123"/>
          <p:cNvSpPr txBox="1"/>
          <p:nvPr/>
        </p:nvSpPr>
        <p:spPr>
          <a:xfrm>
            <a:off x="9144000" y="4215384"/>
            <a:ext cx="2225040" cy="16916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lang="en-US" sz="1500" b="0">
                <a:solidFill>
                  <a:srgbClr val="1E293B"/>
                </a:solidFill>
                <a:latin typeface="Calibri"/>
              </a:rPr>
              <a:t>50+: 73.3% Sleep Apnea. 40–49: 66.7% Insomnia.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F3EDFB"/>
            </a:gs>
            <a:gs pos="50000">
              <a:srgbClr val="E9F2FA"/>
            </a:gs>
            <a:gs pos="100000">
              <a:srgbClr val="FDEEE4"/>
            </a:gs>
          </a:gsLst>
          <a:lin ang="27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47472"/>
            <a:ext cx="109728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700" b="1">
                <a:solidFill>
                  <a:srgbClr val="1E293B"/>
                </a:solidFill>
                <a:latin typeface="Calibri"/>
              </a:rPr>
              <a:t>Limitations of This Study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868680"/>
            <a:ext cx="10789920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64748B"/>
                </a:solidFill>
                <a:latin typeface="Calibri"/>
              </a:rPr>
              <a:t>What the data cannot tell us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201400" y="6473952"/>
            <a:ext cx="45720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1">
                <a:solidFill>
                  <a:srgbClr val="64748B"/>
                </a:solidFill>
                <a:latin typeface="Calibri"/>
              </a:rPr>
              <a:t>22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94360" y="1280160"/>
            <a:ext cx="3520440" cy="3474720"/>
          </a:xfrm>
          <a:prstGeom prst="roundRect">
            <a:avLst/>
          </a:prstGeom>
          <a:solidFill>
            <a:srgbClr val="FBE3D3"/>
          </a:solidFill>
          <a:ln w="19050">
            <a:solidFill>
              <a:srgbClr val="D971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795528" y="1444751"/>
            <a:ext cx="3118104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>
                <a:solidFill>
                  <a:srgbClr val="D9714A"/>
                </a:solidFill>
                <a:latin typeface="Calibri"/>
              </a:rPr>
              <a:t>01  SMALL FINAL SAMPLE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95528" y="1847088"/>
            <a:ext cx="3118104" cy="35844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0">
                <a:solidFill>
                  <a:srgbClr val="1E293B"/>
                </a:solidFill>
                <a:latin typeface="Calibri"/>
              </a:rPr>
              <a:t>Only 59 disorder records remain after cleaning.
Averages and percentages can be sensitive to a few records.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43400" y="1280160"/>
            <a:ext cx="3520440" cy="3474720"/>
          </a:xfrm>
          <a:prstGeom prst="roundRect">
            <a:avLst/>
          </a:prstGeom>
          <a:solidFill>
            <a:srgbClr val="DCEEF5"/>
          </a:solidFill>
          <a:ln w="19050">
            <a:solidFill>
              <a:srgbClr val="2E86A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4544568" y="1444751"/>
            <a:ext cx="3118104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>
                <a:solidFill>
                  <a:srgbClr val="2E86AB"/>
                </a:solidFill>
                <a:latin typeface="Calibri"/>
              </a:rPr>
              <a:t>02  CROSS-SECTIONAL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44568" y="1847088"/>
            <a:ext cx="3118104" cy="35844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0">
                <a:solidFill>
                  <a:srgbClr val="1E293B"/>
                </a:solidFill>
                <a:latin typeface="Calibri"/>
              </a:rPr>
              <a:t>This is a snapshot. We cannot tell whether stress causes poor sleep or poor sleep increases stress.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092440" y="1280160"/>
            <a:ext cx="3520440" cy="3474720"/>
          </a:xfrm>
          <a:prstGeom prst="roundRect">
            <a:avLst/>
          </a:prstGeom>
          <a:solidFill>
            <a:srgbClr val="FBEFD3"/>
          </a:solidFill>
          <a:ln w="19050">
            <a:solidFill>
              <a:srgbClr val="E8AA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8293608" y="1444751"/>
            <a:ext cx="3118104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>
                <a:solidFill>
                  <a:srgbClr val="E8AA42"/>
                </a:solidFill>
                <a:latin typeface="Calibri"/>
              </a:rPr>
              <a:t>03  MISSING VARIABLES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93608" y="1847088"/>
            <a:ext cx="3118104" cy="35844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0">
                <a:solidFill>
                  <a:srgbClr val="1E293B"/>
                </a:solidFill>
                <a:latin typeface="Calibri"/>
              </a:rPr>
              <a:t>The dataset does not include factors such as caffeine, screen time, or genetics.
Other variables could influence the patterns.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F3EDFB"/>
            </a:gs>
            <a:gs pos="50000">
              <a:srgbClr val="E9F2FA"/>
            </a:gs>
            <a:gs pos="100000">
              <a:srgbClr val="FDEEE4"/>
            </a:gs>
          </a:gsLst>
          <a:lin ang="27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47472"/>
            <a:ext cx="109728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700" b="1">
                <a:solidFill>
                  <a:srgbClr val="1E293B"/>
                </a:solidFill>
                <a:latin typeface="Calibri"/>
              </a:rPr>
              <a:t>Future Roadmap &amp; Improvements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868680"/>
            <a:ext cx="10789920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64748B"/>
                </a:solidFill>
                <a:latin typeface="Calibri"/>
              </a:rPr>
              <a:t>How the next version could become stronger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201400" y="6473952"/>
            <a:ext cx="45720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1">
                <a:solidFill>
                  <a:srgbClr val="64748B"/>
                </a:solidFill>
                <a:latin typeface="Calibri"/>
              </a:rPr>
              <a:t>23</a:t>
            </a:r>
          </a:p>
        </p:txBody>
      </p:sp>
      <p:sp>
        <p:nvSpPr>
          <p:cNvPr id="5" name="Oval 4"/>
          <p:cNvSpPr/>
          <p:nvPr/>
        </p:nvSpPr>
        <p:spPr>
          <a:xfrm>
            <a:off x="685800" y="1234440"/>
            <a:ext cx="658368" cy="658368"/>
          </a:xfrm>
          <a:prstGeom prst="ellipse">
            <a:avLst/>
          </a:prstGeom>
          <a:solidFill>
            <a:srgbClr val="2E86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85800" y="1408176"/>
            <a:ext cx="658368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400" b="1">
                <a:solidFill>
                  <a:srgbClr val="1E293B"/>
                </a:solidFill>
                <a:latin typeface="Calibri"/>
              </a:rPr>
              <a:t>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554480" y="1216152"/>
            <a:ext cx="27432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1">
                <a:solidFill>
                  <a:srgbClr val="1E293B"/>
                </a:solidFill>
                <a:latin typeface="Calibri"/>
              </a:rPr>
              <a:t>Scale Up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60520" y="1216152"/>
            <a:ext cx="694944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0">
                <a:solidFill>
                  <a:srgbClr val="64748B"/>
                </a:solidFill>
                <a:latin typeface="Calibri"/>
              </a:rPr>
              <a:t>Collect a much larger participant sample.</a:t>
            </a:r>
          </a:p>
        </p:txBody>
      </p:sp>
      <p:sp>
        <p:nvSpPr>
          <p:cNvPr id="9" name="Oval 8"/>
          <p:cNvSpPr/>
          <p:nvPr/>
        </p:nvSpPr>
        <p:spPr>
          <a:xfrm>
            <a:off x="685800" y="2404872"/>
            <a:ext cx="658368" cy="658368"/>
          </a:xfrm>
          <a:prstGeom prst="ellipse">
            <a:avLst/>
          </a:prstGeom>
          <a:solidFill>
            <a:srgbClr val="D971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85800" y="2578608"/>
            <a:ext cx="658368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400" b="1">
                <a:solidFill>
                  <a:srgbClr val="1E293B"/>
                </a:solidFill>
                <a:latin typeface="Calibri"/>
              </a:rPr>
              <a:t>02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54480" y="2386584"/>
            <a:ext cx="27432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1">
                <a:solidFill>
                  <a:srgbClr val="1E293B"/>
                </a:solidFill>
                <a:latin typeface="Calibri"/>
              </a:rPr>
              <a:t>Track Over Time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160520" y="2386584"/>
            <a:ext cx="694944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0">
                <a:solidFill>
                  <a:srgbClr val="64748B"/>
                </a:solidFill>
                <a:latin typeface="Calibri"/>
              </a:rPr>
              <a:t>Use repeated measurements to study changes.</a:t>
            </a:r>
          </a:p>
        </p:txBody>
      </p:sp>
      <p:sp>
        <p:nvSpPr>
          <p:cNvPr id="13" name="Oval 12"/>
          <p:cNvSpPr/>
          <p:nvPr/>
        </p:nvSpPr>
        <p:spPr>
          <a:xfrm>
            <a:off x="685800" y="3575304"/>
            <a:ext cx="658368" cy="658368"/>
          </a:xfrm>
          <a:prstGeom prst="ellipse">
            <a:avLst/>
          </a:prstGeom>
          <a:solidFill>
            <a:srgbClr val="2E86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85800" y="3749040"/>
            <a:ext cx="658368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400" b="1">
                <a:solidFill>
                  <a:srgbClr val="1E293B"/>
                </a:solidFill>
                <a:latin typeface="Calibri"/>
              </a:rPr>
              <a:t>03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554480" y="3557016"/>
            <a:ext cx="27432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1">
                <a:solidFill>
                  <a:srgbClr val="1E293B"/>
                </a:solidFill>
                <a:latin typeface="Calibri"/>
              </a:rPr>
              <a:t>Expand Features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160520" y="3557016"/>
            <a:ext cx="694944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0">
                <a:solidFill>
                  <a:srgbClr val="64748B"/>
                </a:solidFill>
                <a:latin typeface="Calibri"/>
              </a:rPr>
              <a:t>Add diet, exercise frequency, caffeine and screen time.</a:t>
            </a:r>
          </a:p>
        </p:txBody>
      </p:sp>
      <p:sp>
        <p:nvSpPr>
          <p:cNvPr id="17" name="Oval 16"/>
          <p:cNvSpPr/>
          <p:nvPr/>
        </p:nvSpPr>
        <p:spPr>
          <a:xfrm>
            <a:off x="685800" y="4745736"/>
            <a:ext cx="658368" cy="658368"/>
          </a:xfrm>
          <a:prstGeom prst="ellipse">
            <a:avLst/>
          </a:prstGeom>
          <a:solidFill>
            <a:srgbClr val="D971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685800" y="4919472"/>
            <a:ext cx="658368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400" b="1">
                <a:solidFill>
                  <a:srgbClr val="1E293B"/>
                </a:solidFill>
                <a:latin typeface="Calibri"/>
              </a:rPr>
              <a:t>04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554480" y="4727448"/>
            <a:ext cx="27432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1">
                <a:solidFill>
                  <a:srgbClr val="1E293B"/>
                </a:solidFill>
                <a:latin typeface="Calibri"/>
              </a:rPr>
              <a:t>Validate Labels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160520" y="4727448"/>
            <a:ext cx="694944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0">
                <a:solidFill>
                  <a:srgbClr val="64748B"/>
                </a:solidFill>
                <a:latin typeface="Calibri"/>
              </a:rPr>
              <a:t>Use clinically verified diagnoses where possible.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554480" y="5897880"/>
            <a:ext cx="94183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>
                <a:solidFill>
                  <a:srgbClr val="1E293B"/>
                </a:solidFill>
                <a:latin typeface="Calibri"/>
              </a:rPr>
              <a:t>Goal: move from simple pattern finding toward stronger, better-validated evidence.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F3EDFB"/>
            </a:gs>
            <a:gs pos="50000">
              <a:srgbClr val="E9F2FA"/>
            </a:gs>
            <a:gs pos="100000">
              <a:srgbClr val="FDEEE4"/>
            </a:gs>
          </a:gsLst>
          <a:lin ang="27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594360"/>
            <a:ext cx="1078992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3000" b="1">
                <a:solidFill>
                  <a:srgbClr val="1E293B"/>
                </a:solidFill>
                <a:latin typeface="Calibri"/>
              </a:rPr>
              <a:t>CONCLUSION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234440"/>
            <a:ext cx="1033272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500" b="1">
                <a:solidFill>
                  <a:srgbClr val="E8AA42"/>
                </a:solidFill>
                <a:latin typeface="Calibri"/>
              </a:rPr>
              <a:t>Two disorders. Different patterns.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85800" y="2148840"/>
            <a:ext cx="5303520" cy="1828800"/>
          </a:xfrm>
          <a:prstGeom prst="roundRect">
            <a:avLst/>
          </a:prstGeom>
          <a:solidFill>
            <a:srgbClr val="FBE3D3"/>
          </a:solidFill>
          <a:ln w="19050">
            <a:solidFill>
              <a:srgbClr val="D971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886968" y="2313432"/>
            <a:ext cx="4901183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D9714A"/>
                </a:solidFill>
                <a:latin typeface="Calibri"/>
              </a:rPr>
              <a:t>INSOMNIA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86968" y="2715768"/>
            <a:ext cx="4901183" cy="11155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0">
                <a:solidFill>
                  <a:srgbClr val="1E293B"/>
                </a:solidFill>
                <a:latin typeface="Calibri"/>
              </a:rPr>
              <a:t>In this sample: higher stress, shorter average sleep duration, and slightly lower sleep quality.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2148840"/>
            <a:ext cx="5303520" cy="1828800"/>
          </a:xfrm>
          <a:prstGeom prst="roundRect">
            <a:avLst/>
          </a:prstGeom>
          <a:solidFill>
            <a:srgbClr val="DCEEF5"/>
          </a:solidFill>
          <a:ln w="19050">
            <a:solidFill>
              <a:srgbClr val="2E86A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419088" y="2313432"/>
            <a:ext cx="4901183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2E86AB"/>
                </a:solidFill>
                <a:latin typeface="Calibri"/>
              </a:rPr>
              <a:t>SLEEP APNEA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19088" y="2715768"/>
            <a:ext cx="4901183" cy="11155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0">
                <a:solidFill>
                  <a:srgbClr val="1E293B"/>
                </a:solidFill>
                <a:latin typeface="Calibri"/>
              </a:rPr>
              <a:t>In this sample: higher average blood pressure and heart rate, with stronger shares in older and obese groups.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51560" y="4434840"/>
            <a:ext cx="10058400" cy="685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600" b="1">
                <a:solidFill>
                  <a:srgbClr val="1E293B"/>
                </a:solidFill>
                <a:latin typeface="Calibri"/>
              </a:rPr>
              <a:t>Final message: the project finds patterns—not causes. A larger and better-validated dataset would be needed for stronger conclusions.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5440680"/>
            <a:ext cx="1033272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300" b="1">
                <a:solidFill>
                  <a:srgbClr val="1E293B"/>
                </a:solidFill>
                <a:latin typeface="Calibri"/>
              </a:rPr>
              <a:t>Thank You  •  Questions?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" y="6172200"/>
            <a:ext cx="10515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200" b="0">
                <a:solidFill>
                  <a:srgbClr val="64748B"/>
                </a:solidFill>
                <a:latin typeface="Calibri"/>
              </a:rPr>
              <a:t>Ganesh Singh  •  Neha Tiwari  •  Vivek Hotkar  •  Anushka Shekhar  •  Mahima Gupta  •  Mohd Fuzail Salmani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96</TotalTime>
  <Words>1574</Words>
  <Application>Microsoft Office PowerPoint</Application>
  <PresentationFormat>Widescreen</PresentationFormat>
  <Paragraphs>265</Paragraphs>
  <Slides>21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25" baseType="lpstr">
      <vt:lpstr>Arial</vt:lpstr>
      <vt:lpstr>Calibri</vt:lpstr>
      <vt:lpstr>Cambria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subject/>
  <dc:creator>ganesh singh</dc:creator>
  <cp:keywords/>
  <dc:description>generated using python-pptx</dc:description>
  <cp:lastModifiedBy>ganesh singh</cp:lastModifiedBy>
  <cp:revision>14</cp:revision>
  <dcterms:created xsi:type="dcterms:W3CDTF">2013-01-27T09:14:16Z</dcterms:created>
  <dcterms:modified xsi:type="dcterms:W3CDTF">2026-09-29T11:58:25Z</dcterms:modified>
  <cp:category/>
</cp:coreProperties>
</file>